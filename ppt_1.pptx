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310" r:id="rId2"/>
    <p:sldId id="335" r:id="rId3"/>
    <p:sldId id="340" r:id="rId4"/>
    <p:sldId id="277" r:id="rId5"/>
    <p:sldId id="351" r:id="rId6"/>
    <p:sldId id="341" r:id="rId7"/>
    <p:sldId id="336" r:id="rId8"/>
    <p:sldId id="324" r:id="rId9"/>
    <p:sldId id="352" r:id="rId21"/>
    <p:sldId id="347" r:id="rId10"/>
    <p:sldId id="329" r:id="rId11"/>
    <p:sldId id="349" r:id="rId12"/>
    <p:sldId id="348" r:id="rId13"/>
    <p:sldId id="33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0" autoAdjust="0"/>
  </p:normalViewPr>
  <p:slideViewPr>
    <p:cSldViewPr>
      <p:cViewPr>
        <p:scale>
          <a:sx n="100" d="100"/>
          <a:sy n="100" d="100"/>
        </p:scale>
        <p:origin x="974" y="-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2T08:52:42.2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2T08:52:48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251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46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197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7C27-16C2-4FD5-8EDE-FBC75B02CAE1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A0253-5212-49C0-B220-868D06335A5E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9E232-9D5D-4D27-AF47-61E4C4587D76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9B3BB-114E-4111-8052-0BC0558AA05F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05F7-9DF8-482F-A92F-377DE8B06454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29EA-6B2E-4077-9690-3164A6869B63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0F3F-5DBE-4A29-BC4C-5DBB7AA3E72C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7CD-DC6B-447A-B516-2D668A535C98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E129-FEC6-4F1C-87DA-3FA2731984DA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4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B6C-4E1E-4281-A1E0-61DF76DC1030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6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022C0B77-B5C0-41D3-97D7-210C8A431946}" type="datetime3">
              <a:rPr lang="en-US" smtClean="0"/>
              <a:pPr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C0EC1BDC-9B67-430D-970A-E36C7517514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"/>
            <a:ext cx="6553200" cy="13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8C00D-D945-4F51-B787-E058BBE42DC9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30.png"/><Relationship Id="rId4" Type="http://schemas.openxmlformats.org/officeDocument/2006/relationships/customXml" Target="../ink/ink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/>
          </a:p>
        </p:txBody>
      </p:sp>
      <p:sp>
        <p:nvSpPr>
          <p:cNvPr id="89" name="Google Shape;89;p13"/>
          <p:cNvSpPr txBox="1"/>
          <p:nvPr/>
        </p:nvSpPr>
        <p:spPr>
          <a:xfrm>
            <a:off x="2123728" y="5939806"/>
            <a:ext cx="4896544" cy="58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Times New Roman"/>
              </a:rPr>
              <a:t>Department of Electronics and Communication Engineering</a:t>
            </a:r>
          </a:p>
          <a:p>
            <a:pPr algn="ctr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Times New Roman"/>
              </a:rPr>
              <a:t>Final Year Project — 2026-2027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319932" y="2028263"/>
            <a:ext cx="8593540" cy="121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8B0000"/>
                </a:solidFill>
                <a:latin typeface="Times New Roman"/>
              </a:rPr>
              <a:t>TRAPNET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Design and Implementation of a Tamper-Resilient mm Wave-Radar-Based Intrusion Containment System with Mesh-Relayed SOS Alerts</a:t>
            </a:r>
          </a:p>
        </p:txBody>
      </p:sp>
      <p:pic>
        <p:nvPicPr>
          <p:cNvPr id="8" name="Picture 2" descr="New A++ head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932" y="228600"/>
            <a:ext cx="8572548" cy="14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364088" y="4277614"/>
            <a:ext cx="2976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Batch Reg No: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Mohamed Sameer F (43130597)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Raahul N (43130640)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9F1681-47EF-04F3-1B21-49181313804B}"/>
              </a:ext>
            </a:extLst>
          </p:cNvPr>
          <p:cNvSpPr txBox="1"/>
          <p:nvPr/>
        </p:nvSpPr>
        <p:spPr>
          <a:xfrm>
            <a:off x="3347864" y="3670757"/>
            <a:ext cx="261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8B0000"/>
                </a:solidFill>
                <a:latin typeface="Times New Roman"/>
              </a:rPr>
              <a:t>    </a:t>
            </a:r>
            <a:r>
              <a:rPr lang="en-US" b="1" dirty="0">
                <a:solidFill>
                  <a:srgbClr val="8B0000"/>
                </a:solidFill>
                <a:latin typeface="Times New Roman"/>
              </a:rPr>
              <a:t>Review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6EA68-52A4-4053-C676-3E16119FB4BB}"/>
              </a:ext>
            </a:extLst>
          </p:cNvPr>
          <p:cNvSpPr txBox="1"/>
          <p:nvPr/>
        </p:nvSpPr>
        <p:spPr>
          <a:xfrm>
            <a:off x="899592" y="4277614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Guide Name</a:t>
            </a:r>
            <a:r>
              <a:rPr lang="en-US" sz="1400" b="1" dirty="0">
                <a:solidFill>
                  <a:srgbClr val="8B0000"/>
                </a:solidFill>
                <a:latin typeface="Times New Roman"/>
              </a:rPr>
              <a:t>:</a:t>
            </a:r>
          </a:p>
          <a:p>
            <a:r>
              <a:rPr lang="en-US" sz="1600" b="1" dirty="0" err="1">
                <a:solidFill>
                  <a:srgbClr val="002060"/>
                </a:solidFill>
                <a:latin typeface="Times New Roman"/>
              </a:rPr>
              <a:t>Ms.S.Bhuvaneshwari</a:t>
            </a:r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, M.E.,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Assistant Professor, Department of ECE</a:t>
            </a:r>
          </a:p>
        </p:txBody>
      </p:sp>
    </p:spTree>
    <p:extLst>
      <p:ext uri="{BB962C8B-B14F-4D97-AF65-F5344CB8AC3E}">
        <p14:creationId xmlns:p14="http://schemas.microsoft.com/office/powerpoint/2010/main" val="297567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6B4F-0B5D-352F-2074-08E467C8E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B225BA-8F58-CE33-BC35-4E1CA2566B53}"/>
              </a:ext>
            </a:extLst>
          </p:cNvPr>
          <p:cNvSpPr txBox="1">
            <a:spLocks/>
          </p:cNvSpPr>
          <p:nvPr/>
        </p:nvSpPr>
        <p:spPr>
          <a:xfrm>
            <a:off x="457200" y="404664"/>
            <a:ext cx="8229600" cy="5542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51033B-74F4-76F4-0F8D-C112267B6644}"/>
              </a:ext>
            </a:extLst>
          </p:cNvPr>
          <p:cNvSpPr txBox="1">
            <a:spLocks/>
          </p:cNvSpPr>
          <p:nvPr/>
        </p:nvSpPr>
        <p:spPr>
          <a:xfrm>
            <a:off x="457200" y="1556792"/>
            <a:ext cx="8323102" cy="5524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TRAPNET — Autonomous Intruder Containment System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TRAPNET (Trapping Network) is an Edge-AI driven physical intrusion containment system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designed for small businesses, academic institutions, and residential security. Unlike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conventional CCTV systems that only record, TRAPNET actively responds to intrusion by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physically trapping the intruder and simultaneously triggering a resilient multi-layer SOS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alert.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/>
              </a:rPr>
              <a:t>Core Technology Stack:</a:t>
            </a:r>
          </a:p>
          <a:p>
            <a:pPr algn="just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mmWave Radar (HLK-LD2410 24GHz)</a:t>
            </a:r>
          </a:p>
          <a:p>
            <a:pPr algn="just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Detects 5mm chest breathing motion of stationary hidden intruder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YOLOv8 Vision AI (Raspberry Pi Zero 2W)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Camera-based person detection as secondary confirmation layer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Solenoid Door Lock (12V)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Physical containment: door locks in under 3 seconds upon confirmed detection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Multi-Layer SOS Alert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Wi Fi Beacon + BLE Eddystone + GSM SMS + ESP-NOW Mesh; operates with ZERO internet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endParaRPr lang="en-US" sz="16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8991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DE31-8E10-B7BB-0022-5DCACB06A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93A416-427F-8385-A823-5829B543DB0E}"/>
              </a:ext>
            </a:extLst>
          </p:cNvPr>
          <p:cNvSpPr txBox="1"/>
          <p:nvPr/>
        </p:nvSpPr>
        <p:spPr>
          <a:xfrm>
            <a:off x="2797206" y="404664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532" y="1628800"/>
            <a:ext cx="8424936" cy="438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1.  To design and implement an autonomous physical intrusion containment system capable of detecting human presence and triggering door locking within 3 seconds of confirmed intrusion.</a:t>
            </a:r>
            <a:endParaRPr lang="en-US" sz="160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2. To integrate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</a:rPr>
              <a:t>mmWave</a:t>
            </a:r>
            <a:r>
              <a:rPr lang="en-US" sz="1600" dirty="0">
                <a:solidFill>
                  <a:srgbClr val="000000"/>
                </a:solidFill>
                <a:latin typeface="Times New Roman"/>
              </a:rPr>
              <a:t> radar (HLK-LD2410, 24GHz) for reliable stationary-human detection by sensing 5mm micro-Doppler chest breathing signatures — overcoming the core failure of PIR sensors. To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deploy YOLOv8 edge-AI on Raspberry Pi Zero 2W for camera-based person detection as a secondary sensor fusion layer, reducing false-positive rate and confirming intrusion before actuation.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 To implement a 4-layer internet-independent SOS alert system (WiFi Beacon + BLE Eddystone + GSM SMS via SIM800L + ESP-NOW multi-hop mesh), resilient to WiFi jamming, power cuts, and connectivity loss.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 To achieve full-system offline resilience using 18650 battery backup (4–6 hrs), MicroSD event logging, and GSM cellular communication — ensuring operation independent of internet infrastructure.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446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32656"/>
            <a:ext cx="8229600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46856" y="1412776"/>
            <a:ext cx="8229600" cy="5315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Why TRAPNET is Needed — The Security Gap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1.  CCTV systems only RECORD — they never RESPOND. A thief walks in, steals, and walks out; the camera captures it all but does nothing to stop 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2.  PIR motion sensors MISS stationary intruders. A professional thief who freezes still goes completely undetected — a known and exploited vulnerability.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3.  Camera tamper defeats the entire system. Spraying paint or placing a cloth over the camera causes security systems to lose their only detection channel.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4.  Single-layer alerts fail under attack. WiFi jamming, internet outage, or power cut disables most IoT-based security systems in a single step.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5.  No physical containment exists in affordable systems. High-cost commercial solutions exist, but no sub-₹8,000 system physically traps and alerts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390525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1F278-7430-49D3-1610-BA92182C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C5D660-52A5-7183-3A0D-1BD5844E3CB5}"/>
              </a:ext>
            </a:extLst>
          </p:cNvPr>
          <p:cNvSpPr txBox="1"/>
          <p:nvPr/>
        </p:nvSpPr>
        <p:spPr>
          <a:xfrm>
            <a:off x="2286000" y="4046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Existing Block Diagram</a:t>
            </a:r>
          </a:p>
        </p:txBody>
      </p:sp>
    </p:spTree>
    <p:extLst>
      <p:ext uri="{BB962C8B-B14F-4D97-AF65-F5344CB8AC3E}">
        <p14:creationId xmlns:p14="http://schemas.microsoft.com/office/powerpoint/2010/main" val="121183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C2C0-3327-B0BA-0BF6-84338828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69C351-6094-6C9F-4EFC-6B8229350452}"/>
              </a:ext>
            </a:extLst>
          </p:cNvPr>
          <p:cNvSpPr txBox="1"/>
          <p:nvPr/>
        </p:nvSpPr>
        <p:spPr>
          <a:xfrm>
            <a:off x="467544" y="404664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Scope &amp; Application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891926"/>
              </p:ext>
            </p:extLst>
          </p:nvPr>
        </p:nvGraphicFramePr>
        <p:xfrm>
          <a:off x="323528" y="1196752"/>
          <a:ext cx="8568952" cy="5521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5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5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Deployment Area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Problem Addressed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TRAPNET Solution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Banks &amp; ATMs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Unauthorized after-hours entry; vault tamper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m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m</a:t>
                      </a:r>
                      <a:r>
                        <a:rPr lang="en-US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Wave detects frozen intruder + solenoid lock + GSM silent alarm to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Retail Shops &amp; Warehouses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Night theft after shutter close; camera spray by thieves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Camera tamper = trigger; radar as backup; SMS to owner within 3 sec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Corporate Offices &amp; Server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Restricted zone breach; insider threat; asset theft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ESP-NOW mesh alerts entire floor; vibration sensor detects locker drilling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Academic Labs &amp; Libraries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Equipment theft; unauthorized equipment removal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GPS on asset sends live coordinates via GSM if moved; OLED live status HUD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Rural &amp; Remote Locations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No internet; no GSM 4G coverage in some 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GSM 2G SMS works on SIM800L; fully offline with battery backup 4-6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09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Residential Security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Break-in through back door; no app or subscription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WiFi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Beacon visible in nearby phones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WiFi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list — no app, no pairing needed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76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815D-2FF0-54AC-1213-E650B4C6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2ED9D0-9442-1C9D-7C4B-45052096525D}"/>
              </a:ext>
            </a:extLst>
          </p:cNvPr>
          <p:cNvSpPr txBox="1">
            <a:spLocks/>
          </p:cNvSpPr>
          <p:nvPr/>
        </p:nvSpPr>
        <p:spPr>
          <a:xfrm>
            <a:off x="321439" y="354422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58424E-6813-81AE-BFFD-82D25EC04086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277954"/>
              </p:ext>
            </p:extLst>
          </p:nvPr>
        </p:nvGraphicFramePr>
        <p:xfrm>
          <a:off x="321438" y="1196752"/>
          <a:ext cx="8571042" cy="547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6126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9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Raimondi et al.</a:t>
                      </a:r>
                    </a:p>
                    <a:p>
                      <a:pPr algn="l"/>
                      <a:r>
                        <a:rPr lang="en-IN"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(IEEE Sensors Journal, 2024)</a:t>
                      </a:r>
                    </a:p>
                    <a:p>
                      <a:pPr algn="l"/>
                      <a:r>
                        <a:rPr lang="en-IN" sz="10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mmDetect</a:t>
                      </a:r>
                      <a:r>
                        <a:rPr lang="en-IN"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— 60GHz FMCW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Indoor human detection using 60GHz FMCW radar pipeline; energy thresholding on Doppler signatures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94.7% accuracy; stationary humans detectable via 5-12mm breathing displacement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Integrate physical response and GSM-based SOS 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02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Billah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ICSES,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YOLOv8 Event Detection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Evaluated YOLOv8 nano-to-XL variants at 640×480 on Jetson Nano; 89.4% mAP@0.5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Camera spray/tamper causes complete detection failure in vision-only systems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Add radar as parallel detection channel independent of optical conditions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Chatterjee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YOLOv8 Intrusion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YOLOv8 perimeter security; MQTT alerts to cloud dashboard; 93.1% day / 81.6% low-light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No offline fallback; no physical response; cloud-dependent entire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Add GSM offline fallback + solenoid lock physical containment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Vedrov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AIoT, 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ESP32-CAM + YOLOv8-Nano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Quantized YOLOv5-nano on ESP32-CAM; TFLite inference at 12 FPS / 78.3% accuracy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limited by 520KB SRAM — cannot run full YOLOv8 on-chip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Offload vision to RPi Zero 2W; use ESP32 for relay + GSM coordination only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IoT Journal (2025)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Edge Computing on ESP32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Comparative study of edge inference tasks on ESP32; binary classification &lt;50ms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viable as coordinator node; unsuitable for full vision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Pair with RPi for vision; ESP32 handles sensor fusion + actuation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06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Hsu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Sensors Journal, 2023)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mmWave Occupancy Estimation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77GHz radar for indoor people counting; MAE of 0.7 persons in 20m² rooms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Radar-based presence sensing reliable in cluttered environments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Apply to security intrusion detection with physical actuation response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84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Shen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(Sensors,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Fall Detection via 60GHz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CNN on Doppler spectrograms classifies fall vs. normal; healthcare-focused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FMCW radar resolves human body dynamics through clothing at oblique angles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Extend radar fusion concept to security with YOLOv8 visual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12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23528" y="267574"/>
            <a:ext cx="8568952" cy="89583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Survey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B20CDA-D7A2-16D7-C08B-4E3CED6C0E86}"/>
                  </a:ext>
                </a:extLst>
              </p14:cNvPr>
              <p14:cNvContentPartPr/>
              <p14:nvPr/>
            </p14:nvContentPartPr>
            <p14:xfrm>
              <a:off x="5905380" y="360432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6EB20CDA-D7A2-16D7-C08B-4E3CED6C0E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6740" y="35953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9DF745A-60EA-F046-B163-3BCE3EE2698A}"/>
                  </a:ext>
                </a:extLst>
              </p14:cNvPr>
              <p14:cNvContentPartPr/>
              <p14:nvPr/>
            </p14:nvContentPartPr>
            <p14:xfrm>
              <a:off x="5889900" y="346716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49DF745A-60EA-F046-B163-3BCE3EE269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1260" y="3458160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5887"/>
              </p:ext>
            </p:extLst>
          </p:nvPr>
        </p:nvGraphicFramePr>
        <p:xfrm>
          <a:off x="323528" y="1196752"/>
          <a:ext cx="8568951" cy="547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Zhang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JSAC, 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5G mmWave Passive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5G NR beamforming at 26-28GHz for human presence detection; 87% LoS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Requires ₹15 lakh per node 5G infrastructure — not embedded feasible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Replace 5G with dedicated ₹450 LD2410 radar per TRAPNET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(2023)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IoT Home GSM Alert System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PIR + ESP8266 + SIM900 GSM; SMS alerts over cellular up to 1000km range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Single PIR sensor — misses stationary intruder; no mesh relay or containment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Replace PIR with mmWave; add WiFi beacon + solenoid containment layer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Compact IoT Safety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+ Push button + NEO-6M GPS + GSM; sends location on manual 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Manual activation only — no autonomous detection or physical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Apply GPS-GSM telemetry to autonomous stolen asset tracking (TRAPNET 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(2023)</a:t>
                      </a:r>
                    </a:p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Home Security Anti-Theft IoT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PIR + door contact + smoke → MQTT to mobile app over WiFi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Single point of failure: WiFi jammer disables entire system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Add 3-layer offline SOS: WiFi beacon + BLE Eddystone + GSM cellular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Women Safety ESP32+GPS+GSM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+ NEO-6M + SIM800L; GPS coordinates via SMS on button 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Hardware combination validated at component level for TRAPNET V2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Remove manual trigger; add autonomous radar detection before GPS transmit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6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Devoti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INFOCOM, 2023)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PASID — 5G mmWave Intrusion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Passive intrusion detection via 28GHz 5G AP reflections; no dedicated radar needed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Constrained to environments with 5G mmWave access points — unavailable in target areas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Embed dedicated LD2410 radar eliminating 5G infrastructure dependency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Han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TMC,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mm-Wave Gait Recognition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77GHz COTS mmWave + cloud LSTM; 91.3% gait recognition in security corridors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Requires ₹22,000+ radar hardware + cloud connectivity per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Replace with LD2410 (₹450) + RPi Zero 2W on-device inference; 98% cost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586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Shahin &amp; Younis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LCN, 2015)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EMC Protocol WiFi-Direct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Proxy-member concept for multi-group WiFi Direct mesh — bridges two peer groups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Proxy-member maps directly to TRAPNET ESP-NOW relay design for building-wide SOS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Apply to TRAPNET multi-node mesh for alert propagation beyond 100m range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760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40" y="188640"/>
            <a:ext cx="8593540" cy="10081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8B0000"/>
                </a:solidFill>
                <a:latin typeface="Times New Roman" panose="02020603050405020304" pitchFamily="18" charset="0"/>
              </a:rPr>
              <a:t>Methodology – Four Layer Pipeline Architecture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B7C7A9-1323-CCD5-7514-AFF5EF4FF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73367"/>
              </p:ext>
            </p:extLst>
          </p:nvPr>
        </p:nvGraphicFramePr>
        <p:xfrm>
          <a:off x="317500" y="1196752"/>
          <a:ext cx="8574980" cy="5511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810">
                  <a:extLst>
                    <a:ext uri="{9D8B030D-6E8A-4147-A177-3AD203B41FA5}">
                      <a16:colId xmlns:a16="http://schemas.microsoft.com/office/drawing/2014/main" val="771754902"/>
                    </a:ext>
                  </a:extLst>
                </a:gridCol>
                <a:gridCol w="3007642">
                  <a:extLst>
                    <a:ext uri="{9D8B030D-6E8A-4147-A177-3AD203B41FA5}">
                      <a16:colId xmlns:a16="http://schemas.microsoft.com/office/drawing/2014/main" val="3485524538"/>
                    </a:ext>
                  </a:extLst>
                </a:gridCol>
                <a:gridCol w="3967528">
                  <a:extLst>
                    <a:ext uri="{9D8B030D-6E8A-4147-A177-3AD203B41FA5}">
                      <a16:colId xmlns:a16="http://schemas.microsoft.com/office/drawing/2014/main" val="3380436145"/>
                    </a:ext>
                  </a:extLst>
                </a:gridCol>
              </a:tblGrid>
              <a:tr h="1102382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Pipeline Layer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Hardware &amp; Components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Operational Mechanism &amp; Signal Flow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56301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1: DETECT
(Sensors)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LD2410C 24GHz mmWave Radar
• IR Sensors (Door &amp; Window)
• SW-420 Vibration Sensors (x2)
• NEO-6M GPS Module
• CCTV Camera (RPi CSI)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Fuses radar micro-breathing detection, IR beam-break, vibration triggers, and GPS location tracking. Sends real-time sensor signals to ESP32 coordinator.</a:t>
                      </a:r>
                      <a:endParaRPr lang="en-IN" sz="10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94945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2: PROCESS
(Edge-AI Fusion)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ESP32 </a:t>
                      </a:r>
                      <a:r>
                        <a:rPr lang="en-US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DevKit</a:t>
                      </a:r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V1 (Main Hub)
• Raspberry Pi Zero 2W
• Dual LM2596 Bucks (5V / 4V)
• 18650 Battery System (TP4056)</a:t>
                      </a:r>
                      <a:endParaRPr lang="en-IN" sz="10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 fuses multi-sensor inputs in &lt;500ms. Raspberry Pi runs OpenCV + YOLOv8 vision AI for secondary confirmation over MQTT Serial bridge to prevent false alarms.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1018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3: RESPOND
(Actuation &amp; 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2-Ch Relay Module (Active-LOW)
• 12V Solenoid Door Lock
• MicroSD Card Module (16GB)
• 0.96 inch OLED Display (SSD1306)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Relay triggers 12V solenoid lock within 3s upon threat confirmation to trap intruder. System status displayed on OLED HUD; events logged to FAT32 MicroSD.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82320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4: ALERT
(Multi-Layer SOS)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SIM800L GSM Module (+1000uF cap)
• Onboard ESP32 Radios
  (</a:t>
                      </a:r>
                      <a:r>
                        <a:rPr lang="en-IN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WiFi</a:t>
                      </a:r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Beacon + BLE + ESP-NOW)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Sends GSM SMS alerts to owner &amp; police via SIM800L. Simultaneously broadcasts </a:t>
                      </a:r>
                      <a:r>
                        <a:rPr lang="en-IN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WiFi</a:t>
                      </a:r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Beacon SSID (30m), BLE Eddystone (15m), and ESP-NOW Mesh Relay (200m+). Zero internet required.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5482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7858-7D9C-4CDB-B57B-5F9F7962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593540" cy="89614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8B0000"/>
                </a:solidFill>
                <a:latin typeface="Times New Roman" panose="02020603050405020304" pitchFamily="18" charset="0"/>
              </a:rPr>
              <a:t>Justification of Methodology</a:t>
            </a:r>
            <a:endParaRPr lang="en-US" sz="2400" b="1" dirty="0">
              <a:solidFill>
                <a:srgbClr val="8B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1FBD97-5A17-F4DE-C849-6A6A7B194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23714"/>
              </p:ext>
            </p:extLst>
          </p:nvPr>
        </p:nvGraphicFramePr>
        <p:xfrm>
          <a:off x="319982" y="1196751"/>
          <a:ext cx="8572498" cy="551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242">
                  <a:extLst>
                    <a:ext uri="{9D8B030D-6E8A-4147-A177-3AD203B41FA5}">
                      <a16:colId xmlns:a16="http://schemas.microsoft.com/office/drawing/2014/main" val="3956302874"/>
                    </a:ext>
                  </a:extLst>
                </a:gridCol>
                <a:gridCol w="3358628">
                  <a:extLst>
                    <a:ext uri="{9D8B030D-6E8A-4147-A177-3AD203B41FA5}">
                      <a16:colId xmlns:a16="http://schemas.microsoft.com/office/drawing/2014/main" val="1664123302"/>
                    </a:ext>
                  </a:extLst>
                </a:gridCol>
                <a:gridCol w="3358628">
                  <a:extLst>
                    <a:ext uri="{9D8B030D-6E8A-4147-A177-3AD203B41FA5}">
                      <a16:colId xmlns:a16="http://schemas.microsoft.com/office/drawing/2014/main" val="3010412569"/>
                    </a:ext>
                  </a:extLst>
                </a:gridCol>
              </a:tblGrid>
              <a:tr h="689726">
                <a:tc>
                  <a:txBody>
                    <a:bodyPr/>
                    <a:lstStyle/>
                    <a:p>
                      <a:r>
                        <a:rPr lang="en-IN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Design Choice / 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Why This Method Was Selected</a:t>
                      </a:r>
                      <a:endParaRPr lang="en-IN" sz="115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Alternatives Rejected &amp; Why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94258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Four-Layer Pipeline
(Detect-Process-Respond-Alert)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Decouples sensing, processing, actuation &amp; alert into modular layers. Multi-sensor fusion (radar+IR+vibration+camera) reduces false alarms to near zero.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Single-layer monolithic architecture (unstable, single point of failure); PIR-only motion sensing (misses stationary intruders).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95101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mmWave Radar
(LD2410C 24GHz, ~Rs450)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Detects 5mm chest breathing motion of stationary/hidden humans via micro-Doppler signatures. Works through light obstacles.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PIR sensor (misses frozen intruder); 77GHz COTS radar (Rs22,000+); UWB radar (Rs40,000+ per node - cost prohibitive).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69997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Dual-Controller Fusion
(ESP32-S3 + RPi Zero 2W)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acts as &lt;500ms hard real-time coordinator. RPi Zero 2W handles heavy YOLOv8 Edge-AI vision confirmation over MQTT Serial bridge.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ESP32-CAM TFLite (low accuracy, poor resolution); Jetson Nano (Rs15,000+ - over budget); Cloud AI (requires internet).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189958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Solenoid Door Lock
(12V, &lt;3s Containment)</a:t>
                      </a:r>
                      <a:endParaRPr lang="en-IN" sz="9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Physically contains intruder in &lt;3 seconds, directly solving the core 'record-only' limitation of standard CCTV security systems.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Alarm sirens alone (thief ignores and flees); Fog machines (hazard/maintenance issues); CCTV alert only (no physical protection).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988715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Multi-Layer SOS
(GSM + WiFi + BLE + ESP-NOW)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4 redundant channels ensure alert delivery during WiFi jamming or power cuts. GSM SMS reaches phone 99.9%; BLE/WiFi beacon needs no app; ESP-NOW relays 200m+.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 WiFi/App alert (disabled by Rs200 jammer); Siren-only (no remote notification); LTE-M per node (high monthly SIM cost).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6822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Dual-Rail Power
(LM2596 Bucks + 18650s)</a:t>
                      </a:r>
                      <a:endParaRPr lang="en-IN" sz="9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Dedicated 4V buck + 1000uF cap absorbs SIM800L 2A transmit spikes without ESP32-S3 brownout. 18650 battery backup provides 4-6 hrs operation.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 5V rail (SIM800L current bursts reset ESP32); Lead-acid UPS (heavy, bulky); No battery backup (mains wire cut disables system).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533563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MicroSD Evidence Log
(16GB FAT32 SPI)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Provides tamper-proof, timestamped local event logging independent of cloud connectivity or internet uptime.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Cloud-only storage (fails during internet outage or jamming); Internal RAM buffer (event data lost on power reset).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2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986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B04C78-4383-5B0E-C12F-96C6428EB146}"/>
              </a:ext>
            </a:extLst>
          </p:cNvPr>
          <p:cNvSpPr txBox="1"/>
          <p:nvPr/>
        </p:nvSpPr>
        <p:spPr>
          <a:xfrm>
            <a:off x="2286000" y="4046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Proposed Block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24D3B-872F-3578-2163-F634E6010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724" y="1916832"/>
            <a:ext cx="4968552" cy="46386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72E316-066C-E167-B574-2295E9DA62D8}"/>
              </a:ext>
            </a:extLst>
          </p:cNvPr>
          <p:cNvSpPr txBox="1"/>
          <p:nvPr/>
        </p:nvSpPr>
        <p:spPr>
          <a:xfrm>
            <a:off x="1943708" y="1340768"/>
            <a:ext cx="52565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Times New Roman"/>
              </a:rPr>
              <a:t>Tamper-Resilient mm Wave-Radar-Based Intrusion Containment System with Mesh-Relayed SOS Alerts</a:t>
            </a:r>
          </a:p>
          <a:p>
            <a:pPr algn="ctr"/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1545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816C1A-6D03-0928-9682-F678037D433A}"/>
              </a:ext>
            </a:extLst>
          </p:cNvPr>
          <p:cNvSpPr txBox="1"/>
          <p:nvPr/>
        </p:nvSpPr>
        <p:spPr>
          <a:xfrm>
            <a:off x="317500" y="414510"/>
            <a:ext cx="8509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8B0000"/>
                </a:solidFill>
                <a:latin typeface="Times New Roman" panose="02020603050405020304" pitchFamily="18" charset="0"/>
              </a:rPr>
              <a:t>Component List &amp; Hardware Specifications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952956-3DA9-7596-5B81-7B21A5D4E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004710"/>
              </p:ext>
            </p:extLst>
          </p:nvPr>
        </p:nvGraphicFramePr>
        <p:xfrm>
          <a:off x="312505" y="1100090"/>
          <a:ext cx="8574980" cy="5472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31">
                  <a:extLst>
                    <a:ext uri="{9D8B030D-6E8A-4147-A177-3AD203B41FA5}">
                      <a16:colId xmlns:a16="http://schemas.microsoft.com/office/drawing/2014/main" val="3239924934"/>
                    </a:ext>
                  </a:extLst>
                </a:gridCol>
                <a:gridCol w="1855779">
                  <a:extLst>
                    <a:ext uri="{9D8B030D-6E8A-4147-A177-3AD203B41FA5}">
                      <a16:colId xmlns:a16="http://schemas.microsoft.com/office/drawing/2014/main" val="3649914562"/>
                    </a:ext>
                  </a:extLst>
                </a:gridCol>
                <a:gridCol w="2303726">
                  <a:extLst>
                    <a:ext uri="{9D8B030D-6E8A-4147-A177-3AD203B41FA5}">
                      <a16:colId xmlns:a16="http://schemas.microsoft.com/office/drawing/2014/main" val="3018629714"/>
                    </a:ext>
                  </a:extLst>
                </a:gridCol>
                <a:gridCol w="447947">
                  <a:extLst>
                    <a:ext uri="{9D8B030D-6E8A-4147-A177-3AD203B41FA5}">
                      <a16:colId xmlns:a16="http://schemas.microsoft.com/office/drawing/2014/main" val="4054690902"/>
                    </a:ext>
                  </a:extLst>
                </a:gridCol>
                <a:gridCol w="3391597">
                  <a:extLst>
                    <a:ext uri="{9D8B030D-6E8A-4147-A177-3AD203B41FA5}">
                      <a16:colId xmlns:a16="http://schemas.microsoft.com/office/drawing/2014/main" val="1282888179"/>
                    </a:ext>
                  </a:extLst>
                </a:gridCol>
              </a:tblGrid>
              <a:tr h="28683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Status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Component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Model / Specification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Qty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Interface &amp; Purpose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36198"/>
                  </a:ext>
                </a:extLst>
              </a:tr>
              <a:tr h="294720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MCU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 </a:t>
                      </a:r>
                      <a:r>
                        <a:rPr lang="en-IN" sz="8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DevKit</a:t>
                      </a:r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V1 (WROOM-32)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V1 Basic Coordinator; Sensor Fusion + SOS; WiFi/BLE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381944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Human Radar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LD2410C (24GHz mmWave)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UART2 (256000 baud); 5mm breathing motion detect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96351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IR Obstacle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FC-51 / HW-201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(GPIO4, 13); door &amp; window breach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95639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Vibration Sensor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SW-420 (Adj. sensitivity)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(GPIO34, 39 + 10kohm pull-down); forced entry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670723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GPS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NEO-6M (GY-GPS6MV2)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SoftSerial (9600 baud); location tracking for SOS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182261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CCTV Camera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RPi Camera Module V2 / USB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CSI / USB to RPi; visual person detection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210510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AI 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Raspberry Pi Zero 2W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UART (115200 baud) to ESP32; OpenCV + YOLOv8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49326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Buck Converter #1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LM2596 DC-DC Step-Down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-&gt; 5.0V output rail for ESP32, LD2410, Relay, RPi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387517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Buck Converter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LM2596 DC-DC Step-Down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-&gt; 4.0V dedicated output rail for SIM800L GSM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744173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Battery Backup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18650 Li-Ion (x2) + TP4056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 set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7.4V power backup (4-6 hours operation during outage)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5725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Relay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2-Ch 5V Opto-Isolated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(GPIO32/33, Active-LOW); 12V lock switch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59662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Solenoid 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Electromagnetic 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direct via relay; &lt;3s physical intruder containment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23277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MicroSD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SPI Breakout + 16GB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VSPI Bus (GPIO18/19/23/15); local FAT32 evidence log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26601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OLED Display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0.96 inch SSD1306 (128x64)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I2C (GPIO21/22, Addr: 0x3C); real-time HUD status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746894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MCU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</a:t>
                      </a:r>
                      <a:r>
                        <a:rPr lang="en-IN" sz="8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DevKit</a:t>
                      </a:r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V1 (WROOM-N16R8)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V2 Advanced Upgrade: Vector AI instruction, Dual Type-C, USB-OTG</a:t>
                      </a:r>
                      <a:endParaRPr lang="en-IN" sz="8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04284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3074C67-CCFD-2EEE-51CB-F71D99DFC0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1390322"/>
            <a:ext cx="257076" cy="257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91C561-7D11-6BEE-3571-DA8B97200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98" y="1713571"/>
            <a:ext cx="252000" cy="25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BC9FED-3727-4C41-7636-C2B5375A78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074296"/>
            <a:ext cx="252000" cy="25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74C867-1A3A-31FF-B0F2-4105A1227D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412348"/>
            <a:ext cx="252000" cy="25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167B82-4E64-8AA5-2136-C203387BE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760301"/>
            <a:ext cx="252000" cy="252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AF4F50-1804-917F-8E57-37C6CF5306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114838"/>
            <a:ext cx="252000" cy="252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DD7546-9127-FBE7-F6DE-41F2C6571C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475605"/>
            <a:ext cx="252000" cy="252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46D0DA-0A73-1A9F-AFA4-EF199E94D8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820390"/>
            <a:ext cx="252000" cy="252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5C804B-E2AD-BE4E-2906-1F538A8B54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152627"/>
            <a:ext cx="252000" cy="252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70AA44-FA70-5F57-DBC4-6D2E077633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531705"/>
            <a:ext cx="252000" cy="252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4A083F-6A5F-BA17-E012-49B4B97E7A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845216"/>
            <a:ext cx="252000" cy="252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1763CE3-7DD9-4CA1-07E7-EFC0E36978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224518"/>
            <a:ext cx="252000" cy="252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961800B-542D-9ACA-474D-78D14CD23E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556755"/>
            <a:ext cx="252000" cy="252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F620F9-35A2-074B-F469-8D15ED82AC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888992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61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7E98-C3A8-883F-71AC-C04948026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-119312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Conference Certificate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B6B84-E27C-CE67-770F-74490A705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486" y="1196752"/>
            <a:ext cx="8237027" cy="4752528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Paper Submission &amp; Acceptance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/>
              </a:rPr>
              <a:t>Project Title: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endParaRPr lang="en-US" sz="1700" b="1" dirty="0">
              <a:solidFill>
                <a:srgbClr val="002060"/>
              </a:solidFill>
              <a:latin typeface="Times New Roman"/>
            </a:endParaRPr>
          </a:p>
          <a:p>
            <a:pPr>
              <a:spcBef>
                <a:spcPts val="100"/>
              </a:spcBef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</a:rPr>
              <a:t>“Design and Implementation of a Tamper-Resilient mm Wave-Radar-Based Intrusion Containment System with Mesh-Relayed SOS Alerts”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000000"/>
                </a:solidFill>
                <a:latin typeface="Times New Roman"/>
              </a:rPr>
              <a:t>Institution: Sathyabama Institute of Science and Technology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000000"/>
                </a:solidFill>
                <a:latin typeface="Times New Roman"/>
              </a:rPr>
              <a:t>Department: Electronics and Communication Engineering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500" b="0" dirty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969696"/>
                </a:solidFill>
                <a:latin typeface="Times New Roman"/>
              </a:rPr>
              <a:t>[ Conference Certificate Image  ]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rgbClr val="969696"/>
                </a:solidFill>
                <a:latin typeface="Times New Roman"/>
              </a:rPr>
              <a:t>[ Conference Proceedings Cover Page Image 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b="0" dirty="0">
              <a:solidFill>
                <a:srgbClr val="969696"/>
              </a:solidFill>
              <a:latin typeface="Times New Roman"/>
            </a:endParaRP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0" dirty="0">
                <a:solidFill>
                  <a:srgbClr val="B40000"/>
                </a:solidFill>
                <a:latin typeface="Times New Roman"/>
              </a:rPr>
              <a:t>(Replace the placeholder text above with your actual certificate images)</a:t>
            </a:r>
          </a:p>
        </p:txBody>
      </p:sp>
    </p:spTree>
    <p:extLst>
      <p:ext uri="{BB962C8B-B14F-4D97-AF65-F5344CB8AC3E}">
        <p14:creationId xmlns:p14="http://schemas.microsoft.com/office/powerpoint/2010/main" val="2679642638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3528" y="267574"/>
            <a:ext cx="8568952" cy="895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Literature Survey (Continued)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3528" y="1196752"/>
          <a:ext cx="8568952" cy="5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00"/>
                <a:gridCol w="2800000"/>
                <a:gridCol w="1600000"/>
                <a:gridCol w="2000000"/>
                <a:gridCol w="1718952"/>
              </a:tblGrid>
              <a:tr h="47272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Sl.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Paper Title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Learning / Finding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Future Enhancement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7272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22222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222222"/>
                          </a:solidFill>
                        </a:defRPr>
                      </a:pPr>
                      <a:r>
                        <a:t>Li et al., IEEE Trans. Ind. Informatics, 2025 — 'Systematic Vital Signs Detection via FMCW MIMO Radar'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FMCW MIMO radar with maximum ratio combining &amp; FastICA for breathing/heartbeat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Validates TRAPNET's LD2410C FMCW micro-Doppler approach for detecting stationary humans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No intrusion response, no door locking, no SOS integration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7272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22222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222222"/>
                          </a:solidFill>
                        </a:defRPr>
                      </a:pPr>
                      <a:r>
                        <a:t>Chen et al., IEEE Sensors Journal, 2025 — 'Contactless Vital Sign Monitoring on Edge Devices with T-CNN and mmWave'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Low-complexity T-CNN on edge devices for breath/heart rate extraction from FMCW radar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Validates edge deployment of radar processing on resource-constrained devices like ESP32-S3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Health monitoring only — no security context, no multi-sensor fusion</a:t>
                      </a:r>
                    </a:p>
                  </a:txBody>
                  <a:tcPr/>
                </a:tc>
              </a:tr>
              <a:tr h="47272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22222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222222"/>
                          </a:solidFill>
                        </a:defRPr>
                      </a:pPr>
                      <a:r>
                        <a:t>Russo et al., IEEE Access, 2025 — 'Contactless Monitoring Using Multiple FMCW Radars in 24 GHz Band'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24GHz FMCW radar with Bayesian filtering for real-time vital sign estimation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Same 24GHz band as TRAPNET's LD2410C; real-time breathing detection validated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No intruder detection logic, no embedded security system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7272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22222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222222"/>
                          </a:solidFill>
                        </a:defRPr>
                      </a:pPr>
                      <a:r>
                        <a:t>Rahman et al., IEEE ICDEC, 2025 — 'IoT-Enabled Smart Door Lock with RFID, OTP and Intrusion Detection'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ESP32 + RFID + OTP + relay-controlled solenoid lock for smart door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Same problem — auto door lock on intrusion; validates relay+solenoid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PIR only (no radar), no multi-channel SOS, no AI visual confirmation</a:t>
                      </a:r>
                    </a:p>
                  </a:txBody>
                  <a:tcPr/>
                </a:tc>
              </a:tr>
              <a:tr h="47272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2222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222222"/>
                          </a:solidFill>
                        </a:defRPr>
                      </a:pPr>
                      <a:r>
                        <a:t>Ferrag et al., IEEE IoT Journal, 2025 — 'Edge-IIoTset: Comprehensive IoT Cyber Security Dataset'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Edge-based federated learning for IoT intrusion detection at edge nodes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Validates TRAPNET's edge-computing approach with ESP32 + RPi Zero 2W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Cyber intrusion — not physical intrusion; no sensor hardware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7272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22222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222222"/>
                          </a:solidFill>
                        </a:defRPr>
                      </a:pPr>
                      <a:r>
                        <a:t>Akram et al., IEEE Trans. Consumer Elec., 2024 — 'Secure IoT Smart Home Using Sensor Fusion'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Multi-sensor fusion (PIR + ultrasonic + camera) for false-alarm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Core concept overlap — multi-sensor fusion reduces false positives significantly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No mmWave radar, no trapping, no multi-channel offline SOS</a:t>
                      </a:r>
                    </a:p>
                  </a:txBody>
                  <a:tcPr/>
                </a:tc>
              </a:tr>
              <a:tr h="47272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22222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222222"/>
                          </a:solidFill>
                        </a:defRPr>
                      </a:pPr>
                      <a:r>
                        <a:t>Park et al., IEEE ICIT, 2024 — 'MeshSOS: ESP-NOW Based P2P Emergency Alert Relay System'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ESP32 ESP-NOW peer-to-peer multi-hop relay for infrastructure-free emergency alerts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Directly validates TRAPNET's ESP-NOW mesh relay SOS concept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Worker safety (fall detection) — no intrusion detection, no door locking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7272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22222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222222"/>
                          </a:solidFill>
                        </a:defRPr>
                      </a:pPr>
                      <a:r>
                        <a:t>Kim et al., IEEE ICCE, 2024 — 'BLE Eddystone Indoor Emergency Notification System'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BLE Eddystone telemetry for passive proximity-based alerts without app 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Validates TRAPNET's BLE Eddystone SOS broadcast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BLE only — no WiFi beacon, no GSM, no ESP-NOW mesh</a:t>
                      </a:r>
                    </a:p>
                  </a:txBody>
                  <a:tcPr/>
                </a:tc>
              </a:tr>
              <a:tr h="47272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22222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222222"/>
                          </a:solidFill>
                        </a:defRPr>
                      </a:pPr>
                      <a:r>
                        <a:t>Wang et al., IEEE AIEC, 2024 — 'Lightweight YOLOv8 on Raspberry Pi for Real-Time Security'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Optimized YOLOv8 (INT8 quantization) on RPi for edge-based person detection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Mirrors TRAPNET's AI pipeline — YOLOv8 on RPi Zero 2W for visual confirmation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Camera only — no radar backup, no physical containment, no multi-SOS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7273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22222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222222"/>
                          </a:solidFill>
                        </a:defRPr>
                      </a:pPr>
                      <a:r>
                        <a:t>Singh et al., IEEE ICSIC, 2024 — 'IoT Structural Vibration Monitoring for Forced Entry Detection'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Impulse counting with sliding window to distinguish forced entry from ambient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Validates TRAPNET's SW-420 vibration sensor pulse-counting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Monitoring only — no auto door locking, no radar, no SOS alerts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3047</TotalTime>
  <Words>2541</Words>
  <Application>Microsoft Office PowerPoint</Application>
  <PresentationFormat>On-screen Show (4:3)</PresentationFormat>
  <Paragraphs>328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 Symbol</vt:lpstr>
      <vt:lpstr>Times New Roman</vt:lpstr>
      <vt:lpstr>Custom Design</vt:lpstr>
      <vt:lpstr>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Literature Survey</vt:lpstr>
      <vt:lpstr>Methodology – Four Layer Pipeline Architecture</vt:lpstr>
      <vt:lpstr>Justification of Methodology</vt:lpstr>
      <vt:lpstr>PowerPoint Presentation</vt:lpstr>
      <vt:lpstr>PowerPoint Presentation</vt:lpstr>
      <vt:lpstr>Conference Certificate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Raahul N</cp:lastModifiedBy>
  <cp:revision>150</cp:revision>
  <dcterms:created xsi:type="dcterms:W3CDTF">2019-11-06T07:48:53Z</dcterms:created>
  <dcterms:modified xsi:type="dcterms:W3CDTF">2026-08-10T04:19:50Z</dcterms:modified>
</cp:coreProperties>
</file>
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118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56CF3-66C1-1A75-92A5-FFA0F4703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D769B8-8052-A1F0-32F5-B59930A3C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DBDE0-C231-945A-7807-8234F82B3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6607-5CE3-4E08-ADB9-D6A029B0970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63DE-7A9C-CC4A-04B6-41BEA1664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F2C7D-938F-6ACB-33C0-81F21260B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C36F5-4D0A-4BA6-9ECC-38B1A65A0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468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F29B-1393-1BF3-55C8-81ACD9C0A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0AB5B-48DA-2A36-F55D-0136D21B2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177FC-7A75-DCE1-B2D1-E833B0661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6607-5CE3-4E08-ADB9-D6A029B0970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9A6FF-5BFD-8EDD-F05B-029AF5046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6F478-9BE9-5116-5D71-2A2A3EB13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C36F5-4D0A-4BA6-9ECC-38B1A65A0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37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E8D95-9545-0533-F020-6D3983470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E9ED6-3463-8F71-F20E-BA3FCB566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0D26D-07CC-2BB9-E686-2D90BE192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6607-5CE3-4E08-ADB9-D6A029B0970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8EAF2-8D94-157B-6BC5-159B5025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88F1D-EEBC-6004-290D-269299B57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C36F5-4D0A-4BA6-9ECC-38B1A65A0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501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21CFE-9D0A-EB52-2C14-19C05674E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934FC-CA7C-D194-8F94-56F5AEF16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41EB85-3EE1-8764-A863-EF495FCB2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8AF14-E3C6-695E-F5B2-4DCE164D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6607-5CE3-4E08-ADB9-D6A029B0970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0F657-49E3-9B81-5213-3CB8C13B8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832A1-27A9-EBB4-DF06-0952E3E4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C36F5-4D0A-4BA6-9ECC-38B1A65A0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687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80BEC-CE10-0128-C9C4-360D79C1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DC8FA-9EDA-9AC8-7F71-E75A30C1B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8AAB3-5B7B-E47B-7815-BAD5A6E8E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1196B-23C7-CD05-B39A-2C768511A3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5DD2CA-3935-8308-8BBA-D1D7966E94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6F6CB4-B883-E199-269E-473EB47D4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6607-5CE3-4E08-ADB9-D6A029B0970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25343-1E9E-3EF0-85BD-8E5015313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3B821C-BD8F-C540-52C0-6A3799CE6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C36F5-4D0A-4BA6-9ECC-38B1A65A0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11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56BF2-4534-23B1-F9D8-C10F87D62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A8424D-4C11-CF8D-5C7D-2B55F5F26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6607-5CE3-4E08-ADB9-D6A029B0970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79543-D04D-CAA2-2BE7-754FEE2A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B3ECA-ECAA-6A49-71DF-004BFAA2D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C36F5-4D0A-4BA6-9ECC-38B1A65A0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651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B3C2E-0F03-21E2-B76B-91A62DE4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6607-5CE3-4E08-ADB9-D6A029B0970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914569-1126-E47F-ADD4-5F0441680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2840A-A309-678D-A037-54DFA51D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C36F5-4D0A-4BA6-9ECC-38B1A65A0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793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57472-6EF1-1BE9-E71A-89959AF8E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6B498-92F4-7544-4DA4-ED54497D3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16F58-78D3-0D75-613B-BE48A3799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2F85D-40A0-3C3D-F34E-2B628D7A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6607-5CE3-4E08-ADB9-D6A029B0970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50E1C-82DE-B82C-3724-769458922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C80809-BD8E-C34D-541D-1A72597C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C36F5-4D0A-4BA6-9ECC-38B1A65A0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802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E7EA-6B38-4221-65F6-4C1FD695F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3ADB1E-C54A-E473-197E-5EC0C9818C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958F81-BB0D-1088-6DB8-AB5D74242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E7F96-DB93-96B3-041E-675D4D7A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6607-5CE3-4E08-ADB9-D6A029B0970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7EC658-E04A-6318-B323-3E4B6E629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906CA-1E84-AC87-2F63-E0213F3BB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C36F5-4D0A-4BA6-9ECC-38B1A65A0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501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EFC5C-0499-172F-1CBE-95EC405F4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CE87FC-70F8-1BF1-F609-6C9255D56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4A04A-752D-236D-FDCE-59C9C4E86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6607-5CE3-4E08-ADB9-D6A029B0970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88658-19B6-DBE4-8886-FFC9DC56C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694D8-9BC9-A24F-52E6-6568790BE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C36F5-4D0A-4BA6-9ECC-38B1A65A0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344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935C20-9141-DA1C-2895-E08D210A5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52DE15-3631-8E2D-15B1-A8AAE83CB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1D203-27DC-C5BF-71F0-891440F67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76607-5CE3-4E08-ADB9-D6A029B0970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CD99D-4278-F130-6025-BCC44DE9B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E3E38-D908-3425-9211-7F12E58F4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C36F5-4D0A-4BA6-9ECC-38B1A65A0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741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E5ECE1-BF6B-C6DB-7E8C-6FDB4C140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51E21-F2D7-9222-48D7-5F1A8E12E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0FF7E-9418-D42D-7AB2-DB6AC9B05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876607-5CE3-4E08-ADB9-D6A029B0970A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73B1F-E535-0CE0-0972-C823F66F1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2D0F3-17E2-8DF0-335E-91EDA26F1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C36F5-4D0A-4BA6-9ECC-38B1A65A0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918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EC6CB6-2591-FFBC-1E04-4C3F8484C267}"/>
              </a:ext>
            </a:extLst>
          </p:cNvPr>
          <p:cNvSpPr txBox="1"/>
          <p:nvPr/>
        </p:nvSpPr>
        <p:spPr>
          <a:xfrm>
            <a:off x="635000" y="1905000"/>
            <a:ext cx="7874000" cy="169277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600" b="1">
                <a:solidFill>
                  <a:srgbClr val="8B0000"/>
                </a:solidFill>
                <a:latin typeface="Times New Roman" panose="02020603050405020304" pitchFamily="18" charset="0"/>
              </a:rPr>
              <a:t>TRAPNET - Viva Defense and Technical Questions
Working Principles, Sensor Mechanics and Examiner Q&amp;A</a:t>
            </a:r>
            <a:endParaRPr lang="en-IN" sz="2600" b="1">
              <a:solidFill>
                <a:srgbClr val="8B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505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B30EE3-DF6B-B52C-48E4-4BE2F37271B1}"/>
              </a:ext>
            </a:extLst>
          </p:cNvPr>
          <p:cNvSpPr txBox="1"/>
          <p:nvPr/>
        </p:nvSpPr>
        <p:spPr>
          <a:xfrm>
            <a:off x="317500" y="190500"/>
            <a:ext cx="8509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8B0000"/>
                </a:solidFill>
                <a:latin typeface="Times New Roman" panose="02020603050405020304" pitchFamily="18" charset="0"/>
              </a:rPr>
              <a:t>Sensor Physics: mmWave Radar and Wall Penetration</a:t>
            </a:r>
            <a:endParaRPr lang="en-IN" sz="2200" b="1">
              <a:solidFill>
                <a:srgbClr val="8B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0BEEE0-CACE-4DFE-97B4-EC4A0EA6A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979373"/>
              </p:ext>
            </p:extLst>
          </p:nvPr>
        </p:nvGraphicFramePr>
        <p:xfrm>
          <a:off x="317500" y="825500"/>
          <a:ext cx="8509000" cy="546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3184382282"/>
                    </a:ext>
                  </a:extLst>
                </a:gridCol>
                <a:gridCol w="5969000">
                  <a:extLst>
                    <a:ext uri="{9D8B030D-6E8A-4147-A177-3AD203B41FA5}">
                      <a16:colId xmlns:a16="http://schemas.microsoft.com/office/drawing/2014/main" val="3361917742"/>
                    </a:ext>
                  </a:extLst>
                </a:gridCol>
              </a:tblGrid>
              <a:tr h="1365250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Parameter / Feature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Technical Explanation and Operational Physics</a:t>
                      </a:r>
                      <a:endParaRPr lang="en-IN" sz="12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88815"/>
                  </a:ext>
                </a:extLst>
              </a:tr>
              <a:tr h="1365250"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Detection Mechanism
(LD2410C 24GHz FMCW)</a:t>
                      </a:r>
                      <a:endParaRPr lang="en-IN" sz="10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Operates on 24GHz Frequency Modulated Continuous Wave (FMCW) radar. Emits high-frequency radio waves and measures frequency shifts (Doppler Effect) of reflected signals. Micro-Doppler sensing detects 3-5mm chest breathing displacement of stationary hidden humans.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62155"/>
                  </a:ext>
                </a:extLst>
              </a:tr>
              <a:tr h="1365250"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Wall and Barrier Penetration
(Electromagnetic Attenuation)</a:t>
                      </a:r>
                      <a:endParaRPr lang="en-IN" sz="10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24GHz radio waves penetrate non-conductive, low-density materials (drywall, wood, glass, plastic, thin brick) due to low dielectric attenuation. Dense metals (steel, iron) reflect waves, acting as boundary shields.</a:t>
                      </a:r>
                      <a:endParaRPr lang="en-IN" sz="10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635994"/>
                  </a:ext>
                </a:extLst>
              </a:tr>
              <a:tr h="1365250"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Signal Processing and Gate Thresholds</a:t>
                      </a:r>
                      <a:endParaRPr lang="en-IN" sz="10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Signal energy is digitized across motion and static gates (0.75m to 6m range). Human presence is validated when static energy exceeds Gate Energy &gt; 40 on ESP32-S3 via UART (256000 baud).</a:t>
                      </a:r>
                      <a:endParaRPr lang="en-IN" sz="10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530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264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81E638-3A6F-7868-9B2D-B2E59F0D47AE}"/>
              </a:ext>
            </a:extLst>
          </p:cNvPr>
          <p:cNvSpPr txBox="1"/>
          <p:nvPr/>
        </p:nvSpPr>
        <p:spPr>
          <a:xfrm>
            <a:off x="317500" y="190500"/>
            <a:ext cx="8509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8B0000"/>
                </a:solidFill>
                <a:latin typeface="Times New Roman" panose="02020603050405020304" pitchFamily="18" charset="0"/>
              </a:rPr>
              <a:t>Actuation and Sensing: Vibration Sensor and Relay Control</a:t>
            </a:r>
            <a:endParaRPr lang="en-IN" sz="2200" b="1">
              <a:solidFill>
                <a:srgbClr val="8B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D8559C-9AA1-A897-1EE9-DC5BFED87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237796"/>
              </p:ext>
            </p:extLst>
          </p:nvPr>
        </p:nvGraphicFramePr>
        <p:xfrm>
          <a:off x="317500" y="825500"/>
          <a:ext cx="8509000" cy="546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506489270"/>
                    </a:ext>
                  </a:extLst>
                </a:gridCol>
                <a:gridCol w="5969000">
                  <a:extLst>
                    <a:ext uri="{9D8B030D-6E8A-4147-A177-3AD203B41FA5}">
                      <a16:colId xmlns:a16="http://schemas.microsoft.com/office/drawing/2014/main" val="4201411790"/>
                    </a:ext>
                  </a:extLst>
                </a:gridCol>
              </a:tblGrid>
              <a:tr h="1365250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Component / Module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Working Principle, Circuit Connection and Signal Reaction</a:t>
                      </a:r>
                      <a:endParaRPr lang="en-IN" sz="12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426145"/>
                  </a:ext>
                </a:extLst>
              </a:tr>
              <a:tr h="1365250"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SW-420 Vibration Sensor
(Intracavity Shock Detection)</a:t>
                      </a:r>
                      <a:endParaRPr lang="en-IN" sz="10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Suspended metallic spring inside conductive cylinder. Mechanical shock causes spring contact (LOW pulses). Noise Filtering: Potentiometer thresholding + software pulse counting (&gt;15 pulses/500ms = forced entry; single transient truck shocks rejected). Connected to GPIO34/39 with mandatory 10kohm pull-down.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029735"/>
                  </a:ext>
                </a:extLst>
              </a:tr>
              <a:tr h="1365250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2-Channel Relay Module
(Galvanic Isolation)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Optocoupler barrier isolates 3.3V/5V ESP32-S3 logic from high-current 12V solenoid lock, preventing inductive kickback damage. Active-LOW trigger: ESP32 pulls GPIO32 LOW -&gt; optocoupler fires -&gt; relay coil energizes -&gt; NO contacts close -&gt; 12V locks door (&lt;3s).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081830"/>
                  </a:ext>
                </a:extLst>
              </a:tr>
              <a:tr h="1365250"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IR Sensors (FC-51 / HW-201)
(Boundary Breach Guard)</a:t>
                      </a:r>
                      <a:endParaRPr lang="en-IN" sz="10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Transmits 940nm infrared light. Door/window opening breaks light beam or causes reflection drop, driving GPIO4/13 LOW in &lt;1ms for zero-latency boundary breach detection.</a:t>
                      </a:r>
                      <a:endParaRPr lang="en-IN" sz="10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51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073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909B8D-7138-605E-6BFF-4D381042BB87}"/>
              </a:ext>
            </a:extLst>
          </p:cNvPr>
          <p:cNvSpPr txBox="1"/>
          <p:nvPr/>
        </p:nvSpPr>
        <p:spPr>
          <a:xfrm>
            <a:off x="317500" y="190500"/>
            <a:ext cx="8509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200" b="1">
                <a:solidFill>
                  <a:srgbClr val="8B0000"/>
                </a:solidFill>
                <a:latin typeface="Times New Roman" panose="02020603050405020304" pitchFamily="18" charset="0"/>
              </a:rPr>
              <a:t>Alert Infrastructure: SIM800L and Multi-Layer SOS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C976E4-A8E0-8AF8-2DD9-2B28199291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494108"/>
              </p:ext>
            </p:extLst>
          </p:nvPr>
        </p:nvGraphicFramePr>
        <p:xfrm>
          <a:off x="317500" y="825500"/>
          <a:ext cx="8509000" cy="546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540449811"/>
                    </a:ext>
                  </a:extLst>
                </a:gridCol>
                <a:gridCol w="5969000">
                  <a:extLst>
                    <a:ext uri="{9D8B030D-6E8A-4147-A177-3AD203B41FA5}">
                      <a16:colId xmlns:a16="http://schemas.microsoft.com/office/drawing/2014/main" val="4126663748"/>
                    </a:ext>
                  </a:extLst>
                </a:gridCol>
              </a:tblGrid>
              <a:tr h="1365250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Alert Channel / Module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Communication Mechanism and Power Architecture</a:t>
                      </a:r>
                      <a:endParaRPr lang="en-IN" sz="12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272892"/>
                  </a:ext>
                </a:extLst>
              </a:tr>
              <a:tr h="1365250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SIM800L GSM Communication
(Cellular SMS Transceiver)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Communicates with 2G cell towers via AT commands over UART (9600 baud). Dispatches SMS with breach timestamp and GPS coordinates. Power: Requires dedicated 4.0V buck rail + 1000uF cap to handle 2A peak current bursts without browning out ESP32-S3.</a:t>
                      </a:r>
                      <a:endParaRPr lang="en-IN" sz="10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544967"/>
                  </a:ext>
                </a:extLst>
              </a:tr>
              <a:tr h="1365250"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Proximity Beacons
(WiFi Beacon and BLE Eddystone)</a:t>
                      </a:r>
                      <a:endParaRPr lang="en-IN" sz="10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WiFi Beacon: ESP32-S3 broadcasts unencrypted AP SSID ('SOS_INTRUDER_TRAPPED_GPS...') readable by any phone within 30m without app/pairing. BLE Eddystone: Broadcasts passive BLE telemetry packets (15m radius).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675358"/>
                  </a:ext>
                </a:extLst>
              </a:tr>
              <a:tr h="1365250"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Device Mesh Relay
(ESP-NOW Mesh Protocol)</a:t>
                      </a:r>
                      <a:endParaRPr lang="en-IN" sz="10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2.4GHz peer-to-peer connection reaching 200m+ to neighboring nodes without internet or WiFi router. Enables building-wide SOS relay in zero-connectivity environments.</a:t>
                      </a:r>
                      <a:endParaRPr lang="en-IN" sz="10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183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527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2BCD72-05F8-1EE3-A3A4-6D769A8A1B26}"/>
              </a:ext>
            </a:extLst>
          </p:cNvPr>
          <p:cNvSpPr txBox="1"/>
          <p:nvPr/>
        </p:nvSpPr>
        <p:spPr>
          <a:xfrm>
            <a:off x="317500" y="190500"/>
            <a:ext cx="8509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8B0000"/>
                </a:solidFill>
                <a:latin typeface="Times New Roman" panose="02020603050405020304" pitchFamily="18" charset="0"/>
              </a:rPr>
              <a:t>External Examiner Valuation: Key Viva Q&amp;A (Part 1)</a:t>
            </a:r>
            <a:endParaRPr lang="en-IN" sz="2200" b="1">
              <a:solidFill>
                <a:srgbClr val="8B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D5B4FC-F0D7-3D95-1B58-713F1FFA8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45284"/>
              </p:ext>
            </p:extLst>
          </p:nvPr>
        </p:nvGraphicFramePr>
        <p:xfrm>
          <a:off x="317500" y="825500"/>
          <a:ext cx="8509000" cy="546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6319206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1759107871"/>
                    </a:ext>
                  </a:extLst>
                </a:gridCol>
              </a:tblGrid>
              <a:tr h="1365250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Examiner Question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Technical Viva Defense Response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314977"/>
                  </a:ext>
                </a:extLst>
              </a:tr>
              <a:tr h="1365250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Q1: Why mmWave radar over standard PIR motion sensors?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PIR only senses infrared changes of moving bodies. If an intruder stands still or hides behind obstacles, PIR fails. LD2410C 24GHz mmWave radar senses micro-Doppler chest breathing motion (3-5mm) of stationary humans through non-metallic walls.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46371"/>
                  </a:ext>
                </a:extLst>
              </a:tr>
              <a:tr h="1365250"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Q2: How does the system handle power cuts or cut wires?</a:t>
                      </a:r>
                      <a:endParaRPr lang="en-IN" sz="10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Main power comes from a 12V 2A adapter. Dual 18650 Li-Ion batteries (7.4V) with TP4056 protection provide 4-6 hours offline power backup. GSM SMS, local SD logging, and WiFi/BLE/ESP-NOW operate 100% offline without internet.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510199"/>
                  </a:ext>
                </a:extLst>
              </a:tr>
              <a:tr h="1365250"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Q3: How do you prevent false alarms from pets or passing trucks?</a:t>
                      </a:r>
                      <a:endParaRPr lang="en-IN" sz="10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Multi-sensor fusion: Radar static energy &gt;40 AND vibration pulse count &gt;15/500ms AND (on V2) YOLOv8 vision AI on RPi Zero 2W confirms human presence before solenoid door locks.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440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670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22B7F1-A728-A99A-3315-541E3361D113}"/>
              </a:ext>
            </a:extLst>
          </p:cNvPr>
          <p:cNvSpPr txBox="1"/>
          <p:nvPr/>
        </p:nvSpPr>
        <p:spPr>
          <a:xfrm>
            <a:off x="317500" y="190500"/>
            <a:ext cx="8509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8B0000"/>
                </a:solidFill>
                <a:latin typeface="Times New Roman" panose="02020603050405020304" pitchFamily="18" charset="0"/>
              </a:rPr>
              <a:t>External Examiner Valuation: Key Viva Q&amp;A (Part 2)</a:t>
            </a:r>
            <a:endParaRPr lang="en-IN" sz="2200" b="1">
              <a:solidFill>
                <a:srgbClr val="8B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05D793-4134-CF42-1CE4-61AA531CE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116825"/>
              </p:ext>
            </p:extLst>
          </p:nvPr>
        </p:nvGraphicFramePr>
        <p:xfrm>
          <a:off x="317500" y="825500"/>
          <a:ext cx="8509000" cy="546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637362849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1351716153"/>
                    </a:ext>
                  </a:extLst>
                </a:gridCol>
              </a:tblGrid>
              <a:tr h="1365250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Examiner Question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Technical Viva Defense Response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551588"/>
                  </a:ext>
                </a:extLst>
              </a:tr>
              <a:tr h="1365250"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Q4: Why decoupling into ESP32-S3 and Raspberry Pi Zero 2W?</a:t>
                      </a:r>
                      <a:endParaRPr lang="en-IN" sz="10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Decoupled Edge Architecture: ESP32-S3 handles hard real-time sensor processing (&lt;500ms), relay locking (&lt;3s), and radio beacons. RPi Zero 2W runs heavy vision AI (YOLOv8). Image processing latency never delays critical locking or emergency SOS.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275585"/>
                  </a:ext>
                </a:extLst>
              </a:tr>
              <a:tr h="1365250"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Q5: Why a dedicated LM2596 buck converter for SIM800L?</a:t>
                      </a:r>
                      <a:endParaRPr lang="en-IN" sz="10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SIM800L operates at 3.4V-4.4V and draws 2A peak current bursts during GSM transmission. Powering it from ESP32 lines causes voltage sags and resets. A dedicated 4.0V buck + 1000uF cap ensures voltage stability.</a:t>
                      </a:r>
                      <a:endParaRPr lang="en-IN" sz="10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809781"/>
                  </a:ext>
                </a:extLst>
              </a:tr>
              <a:tr h="1365250"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Q6: What is the disarm / safety mechanism for false locking?</a:t>
                      </a:r>
                      <a:endParaRPr lang="en-IN" sz="10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The 12V solenoid lock is fail-secure via 2-channel relay. Authorized users can disarm via SMS disarm passcode sent to SIM800L or an emergency mechanical manual key override inside.</a:t>
                      </a:r>
                      <a:endParaRPr lang="en-IN" sz="10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648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401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837</Words>
  <Application>Microsoft Office PowerPoint</Application>
  <PresentationFormat>Custom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Raahul N</dc:creator>
  <cp:lastModifiedBy>Raahul N</cp:lastModifiedBy>
  <cp:revision>1</cp:revision>
  <dcterms:created xsi:type="dcterms:W3CDTF">2026-08-06T21:19:51Z</dcterms:created>
  <dcterms:modified xsi:type="dcterms:W3CDTF">2026-08-06T21:19:51Z</dcterms:modified>
</cp:coreProperties>
</file>
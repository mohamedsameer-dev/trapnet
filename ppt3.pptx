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310" r:id="rId2"/>
    <p:sldId id="335" r:id="rId3"/>
    <p:sldId id="340" r:id="rId4"/>
    <p:sldId id="277" r:id="rId5"/>
    <p:sldId id="351" r:id="rId6"/>
    <p:sldId id="341" r:id="rId7"/>
    <p:sldId id="354" r:id="rId8"/>
    <p:sldId id="336" r:id="rId9"/>
    <p:sldId id="356" r:id="rId10"/>
    <p:sldId id="355" r:id="rId11"/>
    <p:sldId id="349" r:id="rId12"/>
    <p:sldId id="347" r:id="rId13"/>
    <p:sldId id="329" r:id="rId14"/>
    <p:sldId id="348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90" autoAdjust="0"/>
  </p:normalViewPr>
  <p:slideViewPr>
    <p:cSldViewPr>
      <p:cViewPr varScale="1">
        <p:scale>
          <a:sx n="90" d="100"/>
          <a:sy n="90" d="100"/>
        </p:scale>
        <p:origin x="126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904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72FC0-3A6E-4FDF-98C7-05D53ADA3185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E15A7B-879F-45B5-9291-0F55AE53DB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146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44B48-72A2-4A15-9A9B-0DA2BF7C6B02}" type="datetimeFigureOut">
              <a:rPr lang="en-US" smtClean="0"/>
              <a:pPr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38FA3-189B-4AA8-9E46-1FED810FB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16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32513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646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C82FC-2C3E-22B6-E71F-537F27053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4A85AC-1357-7F2B-FC20-B7BC328A9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0F0579-D20A-D9B0-A72B-40CEBB6ED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31C86-CC52-CBD3-F80D-2353E2AE3C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331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319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596DB-8F91-C58E-6DAC-D4334C71B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8E3D6-85FA-8571-5759-97DF62C2B5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7E5A42-0914-0BE3-FAD4-14A12D2A7A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C1166-D475-2ABE-A606-11A813758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39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7281D-CE13-5F67-C6E6-83B8CC578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E583-61DC-DCAC-FFDE-C747BB19B1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47D1AA-152C-526E-FAB0-1C61B11655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2590A-EEFD-4A2F-9C93-446657C3EE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38FA3-189B-4AA8-9E46-1FED810FB61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116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E7C27-16C2-4FD5-8EDE-FBC75B02CAE1}" type="datetime3">
              <a:rPr lang="en-US" smtClean="0"/>
              <a:pPr/>
              <a:t>11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781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A6F9D-DD77-42A7-A6AB-57439E778FC8}" type="datetime3">
              <a:rPr lang="en-US" smtClean="0"/>
              <a:pPr/>
              <a:t>11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4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A0253-5212-49C0-B220-868D06335A5E}" type="datetime3">
              <a:rPr lang="en-US" smtClean="0"/>
              <a:pPr/>
              <a:t>11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09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9E232-9D5D-4D27-AF47-61E4C4587D76}" type="datetime3">
              <a:rPr lang="en-US" smtClean="0"/>
              <a:pPr/>
              <a:t>11 August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900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9B3BB-114E-4111-8052-0BC0558AA05F}" type="datetime3">
              <a:rPr lang="en-US" smtClean="0"/>
              <a:pPr/>
              <a:t>11 August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346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305F7-9DF8-482F-A92F-377DE8B06454}" type="datetime3">
              <a:rPr lang="en-US" smtClean="0"/>
              <a:pPr/>
              <a:t>11 August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19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629EA-6B2E-4077-9690-3164A6869B63}" type="datetime3">
              <a:rPr lang="en-US" smtClean="0"/>
              <a:pPr/>
              <a:t>11 August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883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50F3F-5DBE-4A29-BC4C-5DBB7AA3E72C}" type="datetime3">
              <a:rPr lang="en-US" smtClean="0"/>
              <a:pPr/>
              <a:t>11 August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28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4D7CD-DC6B-447A-B516-2D668A535C98}" type="datetime3">
              <a:rPr lang="en-US" smtClean="0"/>
              <a:pPr/>
              <a:t>11 August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269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7E129-FEC6-4F1C-87DA-3FA2731984DA}" type="datetime3">
              <a:rPr lang="en-US" smtClean="0"/>
              <a:pPr/>
              <a:t>11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042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AEDB6C-4E1E-4281-A1E0-61DF76DC1030}" type="datetime3">
              <a:rPr lang="en-US" smtClean="0"/>
              <a:pPr/>
              <a:t>11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61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</a:effectLst>
        </p:spPr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022C0B77-B5C0-41D3-97D7-210C8A431946}" type="datetime3">
              <a:rPr lang="en-US" smtClean="0"/>
              <a:pPr/>
              <a:t>11 August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r>
              <a:rPr lang="en-US"/>
              <a:t>School of Computing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6">
                    <a:lumMod val="50000"/>
                  </a:schemeClr>
                </a:solidFill>
              </a:defRPr>
            </a:lvl1pPr>
          </a:lstStyle>
          <a:p>
            <a:fld id="{C0EC1BDC-9B67-430D-970A-E36C7517514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8600"/>
            <a:ext cx="6553200" cy="1371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8940" y="2286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68C00D-D945-4F51-B787-E058BBE42DC9}" type="datetime3">
              <a:rPr lang="en-US" smtClean="0"/>
              <a:pPr/>
              <a:t>11 August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School of Computing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8076C-CE04-4A00-BFAA-A90EA835585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298940" y="177143"/>
            <a:ext cx="8610600" cy="6553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98940" y="1219200"/>
            <a:ext cx="8610600" cy="1588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31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5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b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b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00"/>
          </a:p>
        </p:txBody>
      </p:sp>
      <p:sp>
        <p:nvSpPr>
          <p:cNvPr id="89" name="Google Shape;89;p13"/>
          <p:cNvSpPr txBox="1"/>
          <p:nvPr/>
        </p:nvSpPr>
        <p:spPr>
          <a:xfrm>
            <a:off x="2123728" y="5939806"/>
            <a:ext cx="4896544" cy="585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latin typeface="Times New Roman"/>
              </a:rPr>
              <a:t>Department of Electronics and Communication Engineering</a:t>
            </a:r>
          </a:p>
          <a:p>
            <a:pPr algn="ctr">
              <a:spcBef>
                <a:spcPts val="50"/>
              </a:spcBef>
              <a:spcAft>
                <a:spcPts val="0"/>
              </a:spcAft>
              <a:buNone/>
            </a:pPr>
            <a:r>
              <a:rPr lang="en-US" sz="1400" b="0" dirty="0">
                <a:solidFill>
                  <a:srgbClr val="000000"/>
                </a:solidFill>
                <a:latin typeface="Times New Roman"/>
              </a:rPr>
              <a:t>Final Year Project — 2026-2027</a:t>
            </a:r>
          </a:p>
        </p:txBody>
      </p:sp>
      <p:sp>
        <p:nvSpPr>
          <p:cNvPr id="90" name="Google Shape;90;p13"/>
          <p:cNvSpPr txBox="1"/>
          <p:nvPr/>
        </p:nvSpPr>
        <p:spPr>
          <a:xfrm>
            <a:off x="319932" y="2028263"/>
            <a:ext cx="8593540" cy="121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8B0000"/>
                </a:solidFill>
                <a:latin typeface="Times New Roman"/>
              </a:rPr>
              <a:t>TRAPNET</a:t>
            </a:r>
          </a:p>
          <a:p>
            <a:pPr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002060"/>
                </a:solidFill>
                <a:latin typeface="Times New Roman"/>
              </a:rPr>
              <a:t>Design and Implementation of a Tamper-Resilient mm Wave-Radar-Based Intrusion Containment System with Mesh-Relayed SOS Alerts</a:t>
            </a:r>
          </a:p>
        </p:txBody>
      </p:sp>
      <p:pic>
        <p:nvPicPr>
          <p:cNvPr id="8" name="Picture 2" descr="New A++ head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9932" y="228600"/>
            <a:ext cx="8572548" cy="148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5364088" y="4277614"/>
            <a:ext cx="29765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Batch Reg No:</a:t>
            </a:r>
          </a:p>
          <a:p>
            <a:r>
              <a:rPr lang="en-US" sz="1600" b="1" dirty="0">
                <a:solidFill>
                  <a:srgbClr val="002060"/>
                </a:solidFill>
                <a:latin typeface="Times New Roman"/>
              </a:rPr>
              <a:t>Mohamed Sameer F (43130597)</a:t>
            </a:r>
          </a:p>
          <a:p>
            <a:r>
              <a:rPr lang="en-US" sz="1600" b="1" dirty="0">
                <a:solidFill>
                  <a:srgbClr val="002060"/>
                </a:solidFill>
                <a:latin typeface="Times New Roman"/>
              </a:rPr>
              <a:t>Raahul N (43130640)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9F1681-47EF-04F3-1B21-49181313804B}"/>
              </a:ext>
            </a:extLst>
          </p:cNvPr>
          <p:cNvSpPr txBox="1"/>
          <p:nvPr/>
        </p:nvSpPr>
        <p:spPr>
          <a:xfrm>
            <a:off x="3347864" y="3670757"/>
            <a:ext cx="2616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8B0000"/>
                </a:solidFill>
                <a:latin typeface="Times New Roman"/>
              </a:rPr>
              <a:t>    </a:t>
            </a:r>
            <a:r>
              <a:rPr lang="en-US" b="1" dirty="0">
                <a:solidFill>
                  <a:srgbClr val="8B0000"/>
                </a:solidFill>
                <a:latin typeface="Times New Roman"/>
              </a:rPr>
              <a:t>Review Presentation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06EA68-52A4-4053-C676-3E16119FB4BB}"/>
              </a:ext>
            </a:extLst>
          </p:cNvPr>
          <p:cNvSpPr txBox="1"/>
          <p:nvPr/>
        </p:nvSpPr>
        <p:spPr>
          <a:xfrm>
            <a:off x="899592" y="4277614"/>
            <a:ext cx="3672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Guide Name</a:t>
            </a:r>
            <a:r>
              <a:rPr lang="en-US" sz="1400" b="1" dirty="0">
                <a:solidFill>
                  <a:srgbClr val="8B0000"/>
                </a:solidFill>
                <a:latin typeface="Times New Roman"/>
              </a:rPr>
              <a:t>:</a:t>
            </a:r>
          </a:p>
          <a:p>
            <a:r>
              <a:rPr lang="en-US" sz="1600" b="1" dirty="0" err="1">
                <a:solidFill>
                  <a:srgbClr val="002060"/>
                </a:solidFill>
                <a:latin typeface="Times New Roman"/>
              </a:rPr>
              <a:t>Ms.S.Bhuvaneshwari</a:t>
            </a:r>
            <a:r>
              <a:rPr lang="en-US" sz="1600" b="1" dirty="0">
                <a:solidFill>
                  <a:srgbClr val="002060"/>
                </a:solidFill>
                <a:latin typeface="Times New Roman"/>
              </a:rPr>
              <a:t>, M.E.,</a:t>
            </a:r>
          </a:p>
          <a:p>
            <a:r>
              <a:rPr lang="en-US" sz="1600" b="1" dirty="0">
                <a:solidFill>
                  <a:srgbClr val="002060"/>
                </a:solidFill>
                <a:latin typeface="Times New Roman"/>
              </a:rPr>
              <a:t>Assistant Professor, Department of ECE</a:t>
            </a:r>
          </a:p>
        </p:txBody>
      </p:sp>
    </p:spTree>
    <p:extLst>
      <p:ext uri="{BB962C8B-B14F-4D97-AF65-F5344CB8AC3E}">
        <p14:creationId xmlns:p14="http://schemas.microsoft.com/office/powerpoint/2010/main" val="2975676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86B4F-0B5D-352F-2074-08E467C8E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2B225BA-8F58-CE33-BC35-4E1CA2566B53}"/>
              </a:ext>
            </a:extLst>
          </p:cNvPr>
          <p:cNvSpPr txBox="1">
            <a:spLocks/>
          </p:cNvSpPr>
          <p:nvPr/>
        </p:nvSpPr>
        <p:spPr>
          <a:xfrm>
            <a:off x="457200" y="404664"/>
            <a:ext cx="8229600" cy="5542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Introduction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A51033B-74F4-76F4-0F8D-C112267B6644}"/>
              </a:ext>
            </a:extLst>
          </p:cNvPr>
          <p:cNvSpPr txBox="1">
            <a:spLocks/>
          </p:cNvSpPr>
          <p:nvPr/>
        </p:nvSpPr>
        <p:spPr>
          <a:xfrm>
            <a:off x="457200" y="1556792"/>
            <a:ext cx="8323102" cy="55247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8B0000"/>
                </a:solidFill>
                <a:latin typeface="Times New Roman"/>
              </a:rPr>
              <a:t>TRAPNET — Autonomous Intruder Containment System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TRAPNET (Trapping Network) is an Edge-AI driven physical intrusion containment system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designed for small businesses, academic institutions, and residential security. Unlike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conventional CCTV systems that only record, TRAPNET actively responds to intrusion by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physically trapping the intruder and simultaneously triggering a resilient multi-layer SOS</a:t>
            </a: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alert.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002060"/>
                </a:solidFill>
                <a:latin typeface="Times New Roman"/>
              </a:rPr>
              <a:t>Core Technology Stack:</a:t>
            </a:r>
          </a:p>
          <a:p>
            <a:pPr algn="just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mmWave Radar (HLK-LD2410 24GHz)</a:t>
            </a:r>
          </a:p>
          <a:p>
            <a:pPr algn="just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Detects 5mm chest breathing motion of stationary hidden intruder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YOLOv8 Vision AI (Raspberry Pi Zero 2W)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Camera-based person detection as secondary confirmation layer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Solenoid Door Lock (12V)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Physical containment: door locks in under 3 seconds upon confirmed detection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Multi-Layer SOS Alert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Wi Fi Beacon + BLE Eddystone + GSM SMS + ESP-NOW Mesh; operates with ZERO internet</a:t>
            </a:r>
          </a:p>
          <a:p>
            <a:pPr algn="just"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8B0000"/>
                </a:solidFill>
                <a:latin typeface="Times New Roman"/>
              </a:rPr>
              <a:t>  </a:t>
            </a:r>
            <a:endParaRPr lang="en-US" sz="1600" b="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98991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0DE31-8E10-B7BB-0022-5DCACB06A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193A416-427F-8385-A823-5829B543DB0E}"/>
              </a:ext>
            </a:extLst>
          </p:cNvPr>
          <p:cNvSpPr txBox="1"/>
          <p:nvPr/>
        </p:nvSpPr>
        <p:spPr>
          <a:xfrm>
            <a:off x="2797206" y="404664"/>
            <a:ext cx="3657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9532" y="1628800"/>
            <a:ext cx="8424936" cy="4380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1.  To design and implement an autonomous physical intrusion containment system capable of detecting human presence and triggering door locking within 3 seconds of confirmed intrusion.</a:t>
            </a:r>
            <a:endParaRPr lang="en-US" sz="160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200"/>
              </a:spcBef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2. To integrate </a:t>
            </a:r>
            <a:r>
              <a:rPr lang="en-US" sz="1600" dirty="0" err="1">
                <a:solidFill>
                  <a:srgbClr val="000000"/>
                </a:solidFill>
                <a:latin typeface="Times New Roman"/>
              </a:rPr>
              <a:t>mmWave</a:t>
            </a:r>
            <a:r>
              <a:rPr lang="en-US" sz="1600" dirty="0">
                <a:solidFill>
                  <a:srgbClr val="000000"/>
                </a:solidFill>
                <a:latin typeface="Times New Roman"/>
              </a:rPr>
              <a:t> radar (HLK-LD2410, 24GHz) for reliable stationary-human detection by sensing 5mm micro-Doppler chest breathing signatures — overcoming the core failure of PIR sensors. To 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deploy YOLOv8 edge-AI on Raspberry Pi Zero 2W for camera-based person detection as a secondary sensor fusion layer, reducing false-positive rate and confirming intrusion before actuation.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3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.  To implement a 4-layer internet-independent SOS alert system (WiFi Beacon + BLE Eddystone + GSM SMS via SIM800L + ESP-NOW multi-hop mesh), resilient to WiFi jamming, power cuts, and connectivity loss.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  <a:p>
            <a:pPr algn="just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lang="en-US" sz="1600" b="0" dirty="0">
                <a:solidFill>
                  <a:srgbClr val="000000"/>
                </a:solidFill>
                <a:latin typeface="Times New Roman"/>
              </a:rPr>
              <a:t>.  To achieve full-system offline resilience using 18650 battery backup (4–6 hrs), MicroSD event logging, and GSM cellular communication — ensuring operation independent of internet infrastructure.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None/>
            </a:pPr>
            <a:endParaRPr lang="en-US" sz="1600" b="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54460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332656"/>
            <a:ext cx="8229600" cy="655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46856" y="1412776"/>
            <a:ext cx="8229600" cy="53158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8B0000"/>
                </a:solidFill>
                <a:latin typeface="Times New Roman"/>
              </a:rPr>
              <a:t>Why TRAPNET is Needed — The Security Gap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2000" b="1" dirty="0">
              <a:solidFill>
                <a:srgbClr val="8B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1.  CCTV systems only RECORD — they never RESPOND. A thief walks in, steals, and walks out; the camera captures it all but does nothing to stop it.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2.  PIR motion sensors MISS stationary intruders. A professional thief who freezes still goes completely undetected — a known and exploited vulnerability.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3.  Camera tamper defeats the entire system. Spraying paint or placing a cloth over the camera causes security systems to lose their only detection channel.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4.  Single-layer alerts fail under attack. WiFi jamming, internet outage, or power cut disables most IoT-based security systems in a single step.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700" b="0" dirty="0">
              <a:solidFill>
                <a:srgbClr val="000000"/>
              </a:solidFill>
              <a:latin typeface="Times New Roman"/>
            </a:endParaRPr>
          </a:p>
          <a:p>
            <a:pPr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700" b="0" dirty="0">
                <a:solidFill>
                  <a:srgbClr val="000000"/>
                </a:solidFill>
                <a:latin typeface="Times New Roman"/>
              </a:rPr>
              <a:t>5.  No physical containment exists in affordable systems. High-cost commercial solutions exist, but no sub-₹8,000 system physically traps and alerts simultaneously.</a:t>
            </a:r>
          </a:p>
        </p:txBody>
      </p:sp>
    </p:spTree>
    <p:extLst>
      <p:ext uri="{BB962C8B-B14F-4D97-AF65-F5344CB8AC3E}">
        <p14:creationId xmlns:p14="http://schemas.microsoft.com/office/powerpoint/2010/main" val="3905252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1F278-7430-49D3-1610-BA92182CF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AC5D660-52A5-7183-3A0D-1BD5844E3CB5}"/>
              </a:ext>
            </a:extLst>
          </p:cNvPr>
          <p:cNvSpPr txBox="1"/>
          <p:nvPr/>
        </p:nvSpPr>
        <p:spPr>
          <a:xfrm>
            <a:off x="2286000" y="40466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Existing Block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6F175B-D4CC-3E3F-764E-2A3D9C644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9264" y="1722558"/>
            <a:ext cx="5616624" cy="48027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98A8DA-1849-381C-47EB-B8AC166555EB}"/>
              </a:ext>
            </a:extLst>
          </p:cNvPr>
          <p:cNvSpPr txBox="1"/>
          <p:nvPr/>
        </p:nvSpPr>
        <p:spPr>
          <a:xfrm>
            <a:off x="323528" y="1403484"/>
            <a:ext cx="8568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rgbClr val="002060"/>
                </a:solidFill>
                <a:latin typeface="Times New Roman"/>
              </a:rPr>
              <a:t>Existing Conventional Security System Architecture</a:t>
            </a:r>
          </a:p>
        </p:txBody>
      </p:sp>
    </p:spTree>
    <p:extLst>
      <p:ext uri="{BB962C8B-B14F-4D97-AF65-F5344CB8AC3E}">
        <p14:creationId xmlns:p14="http://schemas.microsoft.com/office/powerpoint/2010/main" val="1211836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0C2C0-3327-B0BA-0BF6-843388282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69C351-6094-6C9F-4EFC-6B8229350452}"/>
              </a:ext>
            </a:extLst>
          </p:cNvPr>
          <p:cNvSpPr txBox="1"/>
          <p:nvPr/>
        </p:nvSpPr>
        <p:spPr>
          <a:xfrm>
            <a:off x="467544" y="404664"/>
            <a:ext cx="83529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Scope &amp; Application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7891926"/>
              </p:ext>
            </p:extLst>
          </p:nvPr>
        </p:nvGraphicFramePr>
        <p:xfrm>
          <a:off x="323528" y="1196752"/>
          <a:ext cx="8568952" cy="55213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28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80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56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5453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/>
                        </a:rPr>
                        <a:t>Deployment Area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Problem Addressed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TRAPNET Solution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Banks &amp; ATMs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Unauthorized after-hours entry; vault tamper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m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m</a:t>
                      </a:r>
                      <a:r>
                        <a:rPr lang="en-US"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 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Wave detects frozen intruder + solenoid lock + GSM silent alarm to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Retail Shops &amp; Warehouses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Night theft after shutter close; camera spray by thieves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Camera tamper = trigger; radar as backup; SMS to owner within 3 sec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Corporate Offices &amp; Server Rooms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Restricted zone breach; insider threat; asset theft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ESP-NOW mesh alerts entire floor; vibration sensor detects locker drilling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Academic Labs &amp; Libraries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Equipment theft; unauthorized equipment removal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GPS on asset sends live coordinates via GSM if moved; OLED live status HUD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453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Rural &amp; Remote Locations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No internet; no GSM 4G coverage in some areas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GSM 2G SMS works on SIM800L; fully offline with battery backup 4-6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4091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Times New Roman"/>
                        </a:rPr>
                        <a:t>Residential Security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Break-in through back door; no app or subscription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Times New Roman"/>
                        </a:rPr>
                        <a:t>WiFi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 Beacon visible in nearby phones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Times New Roman"/>
                        </a:rPr>
                        <a:t>WiFi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Times New Roman"/>
                        </a:rPr>
                        <a:t> list — no app, no pairing needed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0768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AC709-B809-F020-4961-1EE8C9B4F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28C76A1-C00C-C141-817F-C2AA7C64FDF9}"/>
              </a:ext>
            </a:extLst>
          </p:cNvPr>
          <p:cNvSpPr txBox="1">
            <a:spLocks/>
          </p:cNvSpPr>
          <p:nvPr/>
        </p:nvSpPr>
        <p:spPr>
          <a:xfrm>
            <a:off x="321439" y="354422"/>
            <a:ext cx="8571041" cy="655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Literature Summary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DE5F540-6285-F215-B6FB-0726C0E7C00F}"/>
              </a:ext>
            </a:extLst>
          </p:cNvPr>
          <p:cNvSpPr txBox="1">
            <a:spLocks/>
          </p:cNvSpPr>
          <p:nvPr/>
        </p:nvSpPr>
        <p:spPr>
          <a:xfrm>
            <a:off x="321439" y="1287414"/>
            <a:ext cx="8501122" cy="51845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EC75A7A-041E-BE43-4AF1-429A31B9B5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531079"/>
              </p:ext>
            </p:extLst>
          </p:nvPr>
        </p:nvGraphicFramePr>
        <p:xfrm>
          <a:off x="321440" y="1124744"/>
          <a:ext cx="8572909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35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68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88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68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7682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3893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Sl.</a:t>
                      </a:r>
                    </a:p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Author &amp; Paper Title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Learning / Finding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Future Enhancement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44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Raimondi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Sensors Journal, 2024)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mmDetect: YOLO-Based mm-Wave Radar for Detecting Moving People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MIMO mmWave radar data cube (Range-Doppler-Angle) fed into YOLO neural network for indoor human detection; replaces conventional CFAR algorithms.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YOLO-based radar processing outperforms CFAR in cluttered indoor environments; effective for moving-person detection using radar-only pipeline.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Extend to stationary human detection via micro-Doppler breathing signal; add physical response layer for security applications.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44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02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Sengupta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Sensors Letters, 2022)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Robust Multiobject Tracking Using mmWave Radar-Camera Sensor Fusion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Decision-level fusion of monocular camera + mmWave radar; Hungarian algorithm for measurement association; tri-Kalman filter tracking framework.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Tri-Kalman filter ensures tracking continuity despite single sensor failures; radar depth + camera cross-range fusion improves localization.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Adapt radar-camera fusion tracking to indoor security; maintain detection continuity when camera is tampered or obscured.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444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Shin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(IEEE, 2023)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Robust Indoor Human Detection &amp; Tracking via mmWave Radar-Vision 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Deep learning framework fusing mmWave radar point clouds with 3D skeleton annotations from vision sensor; sparse-to-skeleton reconstruction network.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Radar-vision fusion enables reliable and privacy-preserving indoor human detection; deep learning bridges radar point-cloud sparsity.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Apply radar-vision fusion concept to TRAPNET dual-sensor architecture for enhanced dual-confirm detection confidence.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444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04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Billah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ICCIT, 2024)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Anomalous Event Detection Based on YOLOv8 for Enhanced Security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Multi-camera YOLOv8 + DCNN system with autonomous surveillance rover; detects weapons, smoking and anomalous activities across multiple locations.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YOLOv8 achieves high precision for threat-object detection; camera spray/tamper causes complete detection failure in vision-only systems.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Add mmWave radar as parallel detection channel independent of optical conditions; integrate physical containment response.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444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Chatterjee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(IEEE, 2024)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YOLOv8-Based Intrusion Detection System for Physical 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YOLOv8 trained on COCO dataset (80 categories) for region-of-interest physical intrusion detection; Python + OpenCV real-time pipeline.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High precision and recall for physical intrusion detection; no offline fallback; system is cloud-dependent for alerts with no physical response.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Add GSM offline fallback + solenoid lock physical containment; integrate mmWave radar for camera-tamper resilience.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444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06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Shahbazian &amp; Trubitsyna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Access, 2023)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Human Sensing via RF Signals: Survey on Occupancy &amp; Activity Detection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Comprehensive survey of RF-based human sensing: WiFi, BLE, radar and ML techniques for occupancy detection, activity recognition and vital signs.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Radar-based systems outperform vision in privacy, lighting independence; WiFi CSI and BLE viable for low-cost non-intrusive occupancy sensing.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Combine radar occupancy detection with BLE/WiFi alert propagation as implemented in TRAPNET multi-layer SOS design.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977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8815D-2FF0-54AC-1213-E650B4C60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92ED9D0-9442-1C9D-7C4B-45052096525D}"/>
              </a:ext>
            </a:extLst>
          </p:cNvPr>
          <p:cNvSpPr txBox="1">
            <a:spLocks/>
          </p:cNvSpPr>
          <p:nvPr/>
        </p:nvSpPr>
        <p:spPr>
          <a:xfrm>
            <a:off x="336246" y="197295"/>
            <a:ext cx="8571041" cy="655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Literature Summary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58424E-6813-81AE-BFFD-82D25EC04086}"/>
              </a:ext>
            </a:extLst>
          </p:cNvPr>
          <p:cNvSpPr txBox="1">
            <a:spLocks/>
          </p:cNvSpPr>
          <p:nvPr/>
        </p:nvSpPr>
        <p:spPr>
          <a:xfrm>
            <a:off x="321439" y="1287414"/>
            <a:ext cx="8501122" cy="51845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7FA450-6A25-5098-1FF1-2D1091D44E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100599"/>
              </p:ext>
            </p:extLst>
          </p:nvPr>
        </p:nvGraphicFramePr>
        <p:xfrm>
          <a:off x="321438" y="949937"/>
          <a:ext cx="8571042" cy="573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5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4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4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3957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Sl.</a:t>
                      </a:r>
                    </a:p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Author &amp; Paper Title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Learning / Finding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Future Enhancement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3973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Shrestha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Sensors Journal, 2020)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Continuous Human Activity Classification from FMCW Radar with Bi-LSTM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FMCW radar micro-Doppler data processed by Bi-LSTM recurrent networks for continuous activity monitoring and multi-class classification.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Bi-LSTM achieves &gt;90% mean accuracy on Doppler-domain data; continuous temporal classification superior to fixed-time discrete approaches.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Apply activity classification to distinguish intruder movements from normal activity in TRAPNET radar signal processing pipeline.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3973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08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Shen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(IEEE, 2023)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Human Detection with Weak Ranging Signal for FMCW Radar Systems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Range profile (RP) variation analysis using FMCW mmWave radar; clutter removal + standard deviation per chirp for human presence detection.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Achieves &gt;97% detection accuracy even with weak ranging signals; requires significantly less computational storage than conventional approaches.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Apply weak-signal detection technique to extend TRAPNET radar detection range in challenging cluttered indoor environments.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3973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Wang et al.</a:t>
                      </a:r>
                      <a:br>
                        <a:rPr lang="en-US" dirty="0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Trans. Ind. Informatics, 2025)</a:t>
                      </a:r>
                      <a:br>
                        <a:rPr lang="en-US" dirty="0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Vital Signs Detection via FMCW MIMO Radar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MIMO FMCW radar with maximum ratio combining; singular spectral analysis + correlation-based IMF selection; FastICA for respiration &amp; heartbeat.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Multi-channel combining significantly enhances vital sign SNR; FMCW radar extracts heartbeat signal even when buried in noise/interference.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Use vital sign detection as living-human confirmation layer in TRAPNET radar-based intrusion detection to reduce false alarms.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43973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10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Vignoli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Access, 2025)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Contactless Vital Signs via Multiple 24GHz FMCW Radars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Multiple SIMO 24GHz FMCW radars; selection combining technique; Bayesian-inspired filtering for real-time heart rate, breathing and apnea detection.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24GHz commercial radar achieves reliable vital sign monitoring; multi-radar setup improves coverage and robustness over single-sensor approach.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Validates HLK-LD2410 operating band selection; apply 24GHz radar human-presence validation directly to TRAPNET radar module.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3973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Khan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Sensors Journal, 2025)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Contactless Vital Signs on Edge Devices with T-CNN &amp; mmWave Radar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Temporal CNN models for HR and BR estimation from 77GHz FMCW radar time-series; deployed on PYNQ-ZU SoC achieving 12.6ms inference time.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Edge-deployable vital sign monitoring with low MAE (2.37 bpm HR, 1.18 brpm BR); validates real-time radar processing on embedded hardware.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Apply edge inference approach to TRAPNET ESP32/RPi Zero 2W platform for on-device radar signal classification without cloud dependency.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43973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12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Deng &amp; Zhang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(IEEE, 2024)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Non-Contact Heartbeat Detection with mmWave Radar Using Impulse Trains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mmWave radar with range FFT + high-resolution angle estimation; respiration-guided target selection; impulse train modeling for heartbeat extraction.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Achieves 3.29% avg heartbeat detection error; confirms mmWave radar sensitivity to sub-cm chest micro-motions even under noise/multi-target.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Apply micro-motion detection capability to confirm living human presence during intrusion; reduces false triggers in TRAPNET security system.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120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9D7A9-6DAC-5A76-83C3-2C3D3E586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459367B-6458-A88D-8894-2ECDB0666457}"/>
              </a:ext>
            </a:extLst>
          </p:cNvPr>
          <p:cNvSpPr txBox="1">
            <a:spLocks/>
          </p:cNvSpPr>
          <p:nvPr/>
        </p:nvSpPr>
        <p:spPr>
          <a:xfrm>
            <a:off x="321439" y="215745"/>
            <a:ext cx="8571041" cy="655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Literature Summary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2B956BF-257D-B242-3BD3-AD1FF61AB76C}"/>
              </a:ext>
            </a:extLst>
          </p:cNvPr>
          <p:cNvSpPr txBox="1">
            <a:spLocks/>
          </p:cNvSpPr>
          <p:nvPr/>
        </p:nvSpPr>
        <p:spPr>
          <a:xfrm>
            <a:off x="321439" y="1287414"/>
            <a:ext cx="8501122" cy="51845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089329-E877-FA21-97A3-E1B73831E0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573678"/>
              </p:ext>
            </p:extLst>
          </p:nvPr>
        </p:nvGraphicFramePr>
        <p:xfrm>
          <a:off x="321439" y="1010060"/>
          <a:ext cx="8571042" cy="57086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5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4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4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8025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Sl.</a:t>
                      </a:r>
                    </a:p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Author &amp; Paper Title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Learning / Finding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Future Enhancement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829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Balaji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(IEEE, 2023)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Intruder Alert System in Smart Home Based on IoT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PIR sensor + Raspberry Pi 3 + webcam; motion-triggered image capture; frame comparison for motion detection; call and email alerts to owner.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PIR-based detection misses stationary intruders; CCTV only records without active feedback; IoT alerts improve response time significantly.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Replace PIR with mmWave radar for stationary-intruder detection; add solenoid door lock physical containment beyond alert-only response.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829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14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Kumar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(IEEE, 2024)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IoT-Enabled Smart Door Lock with RFID, OTP &amp; Intrusion Detection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RFID + OTP dual-factor authentication; PIR motion sensor for intrusion detection; cloud IoT notifications; solenoid-actuated lock mechanism.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97% authentication success; 90% intrusion detection accuracy; 0.8s RFID latency; demonstrates IoT door lock feasibility at low cost.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Replace PIR with mmWave radar; add autonomous lock trigger on radar detection instead of relying solely on manual RFID/OTP unlock.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829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Suresh K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(IEEE, 2024)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Real-Time Intrusion Detection for IoT Networks Using Machine 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IDS for IoT networks using Random Forest ML; Wireshark-based network traffic capture on local WiFi testbed; real-time anomaly classification.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Random Forest IDS provides scalable intelligent detection; highlights need for multi-layer security beyond network-only monitoring approaches.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Complement network-layer IDS with physical intrusion detection using mmWave radar + camera fusion for comprehensive security coverage.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829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16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Karanth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(IEEE, 2024)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AI &amp; IoT-Based Intrusion Detection System for Smart Home Security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ML-driven network IDS for IoT smart homes; real-time data analysis and anomaly detection to identify and prevent cyber threats in IoT networks.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High accuracy rate with rapid response time; superior to traditional techniques; highlights IoT device security vulnerabilities by design.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Combine network-level IDS with TRAPNET physical intrusion detection using radar-vision fusion for layered smart-home security.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829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Nair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Systems Journal, 2025)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Emergency Alert System via Compact IoT-Based Safety Device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ESP32-CAM + GPS + GSM wearable; panic button triggers SMS, location sharing, photo capture; Wi-Fi or GSM alert delivery to contacts.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Manual activation only - no autonomous detection or physical containment; validates ESP32 + GPS + GSM hardware combination for alerts.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Apply GPS-GSM telemetry to autonomous stolen asset tracking in TRAPNET V2; remove manual trigger with radar-based auto-detection.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1829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18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Choi &amp; Bahk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Comms. Letters, 2023)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mmWave FMCW Radar for Detecting Objects Behind Transparent Barriers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24GHz FMCW radar experiments through acrylic boards; Range FFT + Angle FFT with background subtraction; range-angle map analysis.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mmWave radar detects objects behind transparent obstacles; unintended reflections from beyond barriers must be factored into system design.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Leverage through-barrier sensing for detecting hidden intruders behind glass partitions or transparent doors in TRAPNET deployment.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4611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F27F-701C-B2DC-B0FD-D5AE3B7C5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E635EBC-C187-C4EE-ADC9-3038FA1DB686}"/>
              </a:ext>
            </a:extLst>
          </p:cNvPr>
          <p:cNvSpPr txBox="1">
            <a:spLocks/>
          </p:cNvSpPr>
          <p:nvPr/>
        </p:nvSpPr>
        <p:spPr>
          <a:xfrm>
            <a:off x="321439" y="354422"/>
            <a:ext cx="8571041" cy="6556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Literature Summary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4F8052A-34B7-45AC-0A82-DC788EA95E42}"/>
              </a:ext>
            </a:extLst>
          </p:cNvPr>
          <p:cNvSpPr txBox="1">
            <a:spLocks/>
          </p:cNvSpPr>
          <p:nvPr/>
        </p:nvSpPr>
        <p:spPr>
          <a:xfrm>
            <a:off x="321439" y="1287414"/>
            <a:ext cx="8501122" cy="51845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53BCE0C-50A2-90BF-3D0A-563F95059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05050"/>
              </p:ext>
            </p:extLst>
          </p:nvPr>
        </p:nvGraphicFramePr>
        <p:xfrm>
          <a:off x="321439" y="1118859"/>
          <a:ext cx="8571042" cy="55216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1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4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5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47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47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88025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Sl.</a:t>
                      </a:r>
                    </a:p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Times New Roman"/>
                        </a:rPr>
                        <a:t>No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Author &amp; Paper Title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Methodology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Learning / Finding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Future Enhancement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195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Han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Trans. Mobile Computing, 2024)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M2VISION: Recovering Surveillance Video with COTS mmWave Radar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Commercial mmWave radar reconstructs surveillance video when camera is damaged; dual-stage signal denoising; cGAN-based video generation.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Achieves 0.93 SSIM for video reconstruction from radar data; demonstrates mmWave as camera backup when camera is physically tampered.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Use radar-as-backup concept in TRAPNET; continue reliable detection even after camera tamper/spray attack in adversarial scenarios.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195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20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Devoti et al.</a:t>
                      </a:r>
                      <a:br>
                        <a:rPr lang="en-US" dirty="0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INFOCOM, 2023)</a:t>
                      </a:r>
                      <a:br>
                        <a:rPr lang="en-US" dirty="0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PASID: Passive Intrusion Detection via Indoor mmWave Deployments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Passive intrusion detection via 28GHz 5G AP beamforming reflections; ML for dynamic environment false-positive reduction; ~99% accuracy.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~99% detection accuracy; constrained to environments with 5G mmWave infrastructure - unsuitable for standalone embedded deployment.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Embed dedicated LD2410 radar eliminating 5G infrastructure dependency; apply passive-sensing concept locally in TRAPNET nodes.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195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Shahin &amp; Younis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LCN, 2015)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EMC: Multi-Group Formation &amp; Communication for Wi-Fi Direct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Proxy-member concept for multi-group WiFi Direct mesh; dynamic group formation based on battery specs; cross-group data sharing via bridge nodes.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Proxy-member concept maps directly to TRAPNET ESP-NOW relay design; validates D2D multi-group mesh for alert dissemination in emergencies.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Apply multi-group communication protocol to TRAPNET ESP-NOW mesh for multi-node alert propagation beyond single-room coverage.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195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22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Ferrag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Access, 2022)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Edge-IIoTset: IoT/IIoT Cyber Security Dataset for ML/FL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Comprehensive IoT/IIoT testbed dataset with 10+ device types; 14 attack types in 5 threat categories; 61 high-correlation features extracted.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ML/DL models on IoT datasets achieve high detection for DoS, MITM, injection and malware attacks; federated learning preserves privacy.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Use dataset insights to harden TRAPNET IoT communication against network-layer attacks alongside physical intrusion security.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81955"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Venkatesha et al.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(IEEE INDISCON, 2023)</a:t>
                      </a:r>
                      <a:br>
                        <a:rPr lang="en-US"/>
                      </a:br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Detection &amp; Simple Tracking for ADAS Using a mmWave Radar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77GHz FMCW radar with Range-Doppler Map processing; 2D CFAR detection; cumulative Detection &amp; Tracking Map (DTM) for multi-target tracking.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CFAR + DTM reliably detects and tracks multiple targets in real-time; applicable to both moving and stationary objects in field conditions.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="0" dirty="0">
                          <a:latin typeface="Times New Roman"/>
                          <a:cs typeface="Times New Roman"/>
                        </a:rPr>
                        <a:t>Apply DTM-based tracking concept to indoor security in TRAPNET; adapt automotive radar pipeline for room-scale intrusion detection.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803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6B04C78-4383-5B0E-C12F-96C6428EB146}"/>
              </a:ext>
            </a:extLst>
          </p:cNvPr>
          <p:cNvSpPr txBox="1"/>
          <p:nvPr/>
        </p:nvSpPr>
        <p:spPr>
          <a:xfrm>
            <a:off x="2286000" y="404664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8B0000"/>
                </a:solidFill>
                <a:latin typeface="Times New Roman"/>
              </a:rPr>
              <a:t>Proposed Block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324D3B-872F-3578-2163-F634E6010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724" y="1916832"/>
            <a:ext cx="4968552" cy="46386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272E316-066C-E167-B574-2295E9DA62D8}"/>
              </a:ext>
            </a:extLst>
          </p:cNvPr>
          <p:cNvSpPr txBox="1"/>
          <p:nvPr/>
        </p:nvSpPr>
        <p:spPr>
          <a:xfrm>
            <a:off x="1943708" y="1340768"/>
            <a:ext cx="52565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  <a:latin typeface="Times New Roman"/>
              </a:rPr>
              <a:t>Tamper-Resilient mm Wave-Radar-Based Intrusion Containment System with Mesh-Relayed SOS Alerts</a:t>
            </a:r>
          </a:p>
          <a:p>
            <a:pPr algn="ctr"/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1154589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8940" y="188640"/>
            <a:ext cx="8593540" cy="100811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8B0000"/>
                </a:solidFill>
                <a:latin typeface="Times New Roman" panose="02020603050405020304" pitchFamily="18" charset="0"/>
              </a:rPr>
              <a:t>Methodology – Four Layer Pipeline Architecture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B7C7A9-1323-CCD5-7514-AFF5EF4FFB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273367"/>
              </p:ext>
            </p:extLst>
          </p:nvPr>
        </p:nvGraphicFramePr>
        <p:xfrm>
          <a:off x="317500" y="1196752"/>
          <a:ext cx="8574980" cy="5511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9810">
                  <a:extLst>
                    <a:ext uri="{9D8B030D-6E8A-4147-A177-3AD203B41FA5}">
                      <a16:colId xmlns:a16="http://schemas.microsoft.com/office/drawing/2014/main" val="771754902"/>
                    </a:ext>
                  </a:extLst>
                </a:gridCol>
                <a:gridCol w="3007642">
                  <a:extLst>
                    <a:ext uri="{9D8B030D-6E8A-4147-A177-3AD203B41FA5}">
                      <a16:colId xmlns:a16="http://schemas.microsoft.com/office/drawing/2014/main" val="3485524538"/>
                    </a:ext>
                  </a:extLst>
                </a:gridCol>
                <a:gridCol w="3967528">
                  <a:extLst>
                    <a:ext uri="{9D8B030D-6E8A-4147-A177-3AD203B41FA5}">
                      <a16:colId xmlns:a16="http://schemas.microsoft.com/office/drawing/2014/main" val="3380436145"/>
                    </a:ext>
                  </a:extLst>
                </a:gridCol>
              </a:tblGrid>
              <a:tr h="1102382"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Pipeline Layer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Hardware &amp; Components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30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Operational Mechanism &amp; Signal Flow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563013"/>
                  </a:ext>
                </a:extLst>
              </a:tr>
              <a:tr h="1102382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Layer 1: DETECT
(Sensors)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• LD2410C 24GHz mmWave Radar
• IR Sensors (Door &amp; Window)
• SW-420 Vibration Sensors (x2)
• NEO-6M GPS Module
• CCTV Camera (RPi CSI)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Fuses radar micro-breathing detection, IR beam-break, vibration triggers, and GPS location tracking. Sends real-time sensor signals to ESP32 coordinator.</a:t>
                      </a:r>
                      <a:endParaRPr lang="en-IN" sz="10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94945"/>
                  </a:ext>
                </a:extLst>
              </a:tr>
              <a:tr h="1102382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Layer 2: PROCESS
(Edge-AI Fusion)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• ESP32 </a:t>
                      </a:r>
                      <a:r>
                        <a:rPr lang="en-US" sz="1050" b="0" dirty="0" err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DevKit</a:t>
                      </a:r>
                      <a:r>
                        <a:rPr lang="en-US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 V1 (Main Hub)
• Raspberry Pi Zero 2W
• Dual LM2596 Bucks (5V / 4V)
• 18650 Battery System (TP4056)</a:t>
                      </a:r>
                      <a:endParaRPr lang="en-IN" sz="10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 fuses multi-sensor inputs in &lt;500ms. Raspberry Pi runs OpenCV + YOLOv8 vision AI for secondary confirmation over MQTT Serial bridge to prevent false alarms.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210183"/>
                  </a:ext>
                </a:extLst>
              </a:tr>
              <a:tr h="1102382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Layer 3: RESPOND
(Actuation &amp; Log)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• 2-Ch Relay Module (Active-LOW)
• 12V Solenoid Door Lock
• MicroSD Card Module (16GB)
• 0.96 inch OLED Display (SSD1306)</a:t>
                      </a:r>
                      <a:endParaRPr lang="en-IN" sz="10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Relay triggers 12V solenoid lock within 3s upon threat confirmation to trap intruder. System status displayed on OLED HUD; events logged to FAT32 MicroSD.</a:t>
                      </a:r>
                      <a:endParaRPr lang="en-IN" sz="10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1823203"/>
                  </a:ext>
                </a:extLst>
              </a:tr>
              <a:tr h="1102382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Layer 4: ALERT
(Multi-Layer SOS)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• SIM800L GSM Module (+1000uF cap)
• Onboard ESP32 Radios
  (</a:t>
                      </a:r>
                      <a:r>
                        <a:rPr lang="en-IN" sz="1050" b="0" dirty="0" err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WiFi</a:t>
                      </a:r>
                      <a:r>
                        <a:rPr lang="en-IN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 Beacon + BLE + ESP-NOW)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Sends GSM SMS alerts to owner &amp; police via SIM800L. Simultaneously broadcasts </a:t>
                      </a:r>
                      <a:r>
                        <a:rPr lang="en-IN" sz="1050" b="0" dirty="0" err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WiFi</a:t>
                      </a:r>
                      <a:r>
                        <a:rPr lang="en-IN" sz="10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 Beacon SSID (30m), BLE Eddystone (15m), and ESP-NOW Mesh Relay (200m+). Zero internet required.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5482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17858-7D9C-4CDB-B57B-5F9F7962D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940" y="228600"/>
            <a:ext cx="8593540" cy="896144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8B0000"/>
                </a:solidFill>
                <a:latin typeface="Times New Roman" panose="02020603050405020304" pitchFamily="18" charset="0"/>
              </a:rPr>
              <a:t>Justification of Methodology</a:t>
            </a:r>
            <a:endParaRPr lang="en-US" sz="2400" b="1" dirty="0">
              <a:solidFill>
                <a:srgbClr val="8B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E1FBD97-5A17-F4DE-C849-6A6A7B194E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623714"/>
              </p:ext>
            </p:extLst>
          </p:nvPr>
        </p:nvGraphicFramePr>
        <p:xfrm>
          <a:off x="319982" y="1196751"/>
          <a:ext cx="8572498" cy="55178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5242">
                  <a:extLst>
                    <a:ext uri="{9D8B030D-6E8A-4147-A177-3AD203B41FA5}">
                      <a16:colId xmlns:a16="http://schemas.microsoft.com/office/drawing/2014/main" val="3956302874"/>
                    </a:ext>
                  </a:extLst>
                </a:gridCol>
                <a:gridCol w="3358628">
                  <a:extLst>
                    <a:ext uri="{9D8B030D-6E8A-4147-A177-3AD203B41FA5}">
                      <a16:colId xmlns:a16="http://schemas.microsoft.com/office/drawing/2014/main" val="1664123302"/>
                    </a:ext>
                  </a:extLst>
                </a:gridCol>
                <a:gridCol w="3358628">
                  <a:extLst>
                    <a:ext uri="{9D8B030D-6E8A-4147-A177-3AD203B41FA5}">
                      <a16:colId xmlns:a16="http://schemas.microsoft.com/office/drawing/2014/main" val="3010412569"/>
                    </a:ext>
                  </a:extLst>
                </a:gridCol>
              </a:tblGrid>
              <a:tr h="689726">
                <a:tc>
                  <a:txBody>
                    <a:bodyPr/>
                    <a:lstStyle/>
                    <a:p>
                      <a:r>
                        <a:rPr lang="en-IN" sz="11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Design Choice / Methodology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Why This Method Was Selected</a:t>
                      </a:r>
                      <a:endParaRPr lang="en-IN" sz="1150" b="1">
                        <a:solidFill>
                          <a:srgbClr val="FFFFFF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Alternatives Rejected &amp; Why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594258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Four-Layer Pipeline
(Detect-Process-Respond-Alert)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Decouples sensing, processing, actuation &amp; alert into modular layers. Multi-sensor fusion (radar+IR+vibration+camera) reduces false alarms to near zero.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Single-layer monolithic architecture (unstable, single point of failure); PIR-only motion sensing (misses stationary intruders).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595101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mmWave Radar
(LD2410C 24GHz, ~Rs450)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Detects 5mm chest breathing motion of stationary/hidden humans via micro-Doppler signatures. Works through light obstacles.</a:t>
                      </a:r>
                      <a:endParaRPr lang="en-IN" sz="9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PIR sensor (misses frozen intruder); 77GHz COTS radar (Rs22,000+); UWB radar (Rs40,000+ per node - cost prohibitive).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4269997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Dual-Controller Fusion
(ESP32-S3 + RPi Zero 2W)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ESP32-S3 acts as &lt;500ms hard real-time coordinator. RPi Zero 2W handles heavy YOLOv8 Edge-AI vision confirmation over MQTT Serial bridge.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ESP32-CAM TFLite (low accuracy, poor resolution); Jetson Nano (Rs15,000+ - over budget); Cloud AI (requires internet).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2189958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Solenoid Door Lock
(12V, &lt;3s Containment)</a:t>
                      </a:r>
                      <a:endParaRPr lang="en-IN" sz="950" b="1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Physically contains intruder in &lt;3 seconds, directly solving the core 'record-only' limitation of standard CCTV security systems.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Alarm sirens alone (thief ignores and flees); Fog machines (hazard/maintenance issues); CCTV alert only (no physical protection).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988715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Multi-Layer SOS
(GSM + WiFi + BLE + ESP-NOW)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4 redundant channels ensure alert delivery during WiFi jamming or power cuts. GSM SMS reaches phone 99.9%; BLE/WiFi beacon needs no app; ESP-NOW relays 200m+.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Single WiFi/App alert (disabled by Rs200 jammer); Siren-only (no remote notification); LTE-M per node (high monthly SIM cost).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346822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Dual-Rail Power
(LM2596 Bucks + 18650s)</a:t>
                      </a:r>
                      <a:endParaRPr lang="en-IN" sz="950" b="1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Dedicated 4V buck + 1000uF cap absorbs SIM800L 2A transmit spikes without ESP32-S3 brownout. 18650 battery backup provides 4-6 hrs operation.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Single 5V rail (SIM800L current bursts reset ESP32); Lead-acid UPS (heavy, bulky); No battery backup (mains wire cut disables system).</a:t>
                      </a:r>
                      <a:endParaRPr lang="en-IN" sz="9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533563"/>
                  </a:ext>
                </a:extLst>
              </a:tr>
              <a:tr h="689726">
                <a:tc>
                  <a:txBody>
                    <a:bodyPr/>
                    <a:lstStyle/>
                    <a:p>
                      <a:r>
                        <a:rPr lang="en-IN" sz="9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MicroSD Evidence Log
(16GB FAT32 SPI)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Provides tamper-proof, timestamped local event logging independent of cloud connectivity or internet uptime.</a:t>
                      </a:r>
                      <a:endParaRPr lang="en-IN" sz="9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Cloud-only storage (fails during internet outage or jamming); Internal RAM buffer (event data lost on power reset).</a:t>
                      </a:r>
                      <a:endParaRPr lang="en-IN" sz="9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3208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9869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3A816C1A-6D03-0928-9682-F678037D433A}"/>
              </a:ext>
            </a:extLst>
          </p:cNvPr>
          <p:cNvSpPr txBox="1"/>
          <p:nvPr/>
        </p:nvSpPr>
        <p:spPr>
          <a:xfrm>
            <a:off x="317500" y="414510"/>
            <a:ext cx="8509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8B0000"/>
                </a:solidFill>
                <a:latin typeface="Times New Roman" panose="02020603050405020304" pitchFamily="18" charset="0"/>
              </a:rPr>
              <a:t>Component List &amp; Hardware Specifications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C952956-3DA9-7596-5B81-7B21A5D4E5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1529289"/>
              </p:ext>
            </p:extLst>
          </p:nvPr>
        </p:nvGraphicFramePr>
        <p:xfrm>
          <a:off x="312505" y="1100090"/>
          <a:ext cx="8574980" cy="54726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931">
                  <a:extLst>
                    <a:ext uri="{9D8B030D-6E8A-4147-A177-3AD203B41FA5}">
                      <a16:colId xmlns:a16="http://schemas.microsoft.com/office/drawing/2014/main" val="3239924934"/>
                    </a:ext>
                  </a:extLst>
                </a:gridCol>
                <a:gridCol w="1855779">
                  <a:extLst>
                    <a:ext uri="{9D8B030D-6E8A-4147-A177-3AD203B41FA5}">
                      <a16:colId xmlns:a16="http://schemas.microsoft.com/office/drawing/2014/main" val="3649914562"/>
                    </a:ext>
                  </a:extLst>
                </a:gridCol>
                <a:gridCol w="2303726">
                  <a:extLst>
                    <a:ext uri="{9D8B030D-6E8A-4147-A177-3AD203B41FA5}">
                      <a16:colId xmlns:a16="http://schemas.microsoft.com/office/drawing/2014/main" val="3018629714"/>
                    </a:ext>
                  </a:extLst>
                </a:gridCol>
                <a:gridCol w="447947">
                  <a:extLst>
                    <a:ext uri="{9D8B030D-6E8A-4147-A177-3AD203B41FA5}">
                      <a16:colId xmlns:a16="http://schemas.microsoft.com/office/drawing/2014/main" val="4054690902"/>
                    </a:ext>
                  </a:extLst>
                </a:gridCol>
                <a:gridCol w="3391597">
                  <a:extLst>
                    <a:ext uri="{9D8B030D-6E8A-4147-A177-3AD203B41FA5}">
                      <a16:colId xmlns:a16="http://schemas.microsoft.com/office/drawing/2014/main" val="1282888179"/>
                    </a:ext>
                  </a:extLst>
                </a:gridCol>
              </a:tblGrid>
              <a:tr h="286832"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Status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Component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Model / Specification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Qty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</a:rPr>
                        <a:t>Interface &amp; Purpose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36198"/>
                  </a:ext>
                </a:extLst>
              </a:tr>
              <a:tr h="294720"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Main MCU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 </a:t>
                      </a:r>
                      <a:r>
                        <a:rPr lang="en-IN" sz="850" b="0" dirty="0" err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DevKit</a:t>
                      </a:r>
                      <a:r>
                        <a:rPr lang="en-IN" sz="8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 V1 (WROOM-32)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V1 Basic Coordinator; Sensor Fusion + SOS; WiFi/BLE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381944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Human Radar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LD2410C (24GHz mmWave)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UART2 (256000 baud); 5mm breathing motion detect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396351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IR Obstacle Sensor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FC-51 / HW-201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Digital GPIO (GPIO4, 13); door &amp; window breach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956395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Vibration Sensor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SW-420 (Adj. sensitivity)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Digital GPIO (GPIO34, 39 + 10kohm pull-down); forced entry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670723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GPS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NEO-6M (GY-GPS6MV2)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SoftSerial (9600 baud); location tracking for SOS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182261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CCTV Camera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RPi Camera Module V2 / USB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CSI / USB to RPi; visual person detection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6210510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AI Processor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Raspberry Pi Zero 2W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UART (115200 baud) to ESP32; OpenCV + YOLOv8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49326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Buck Converter #1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LM2596 DC-DC Step-Down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12V -&gt; 5.0V output rail for ESP32, LD2410, Relay, RPi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387517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Buck Converter #2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LM2596 DC-DC Step-Down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12V -&gt; 4.0V dedicated output rail for SIM800L GSM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744173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Battery Backup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18650 Li-Ion (x2) + TP4056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 set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7.4V power backup (4-6 hours operation during outage)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0157255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Relay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2-Ch 5V Opto-Isolated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Digital GPIO (GPIO32/33, Active-LOW); 12V lock switch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59662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Solenoid Lock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12V Electromagnetic Lock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12V direct via relay; &lt;3s physical intruder containment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823277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MicroSD Module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SPI Breakout + 16GB Card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VSPI Bus (GPIO18/19/23/15); local FAT32 evidence log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266015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☐ 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OLED Display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0.96 inch SSD1306 (128x64)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I2C (GPIO21/22, Addr: 0x3C); real-time HUD status</a:t>
                      </a:r>
                      <a:endParaRPr lang="en-IN" sz="850" b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9746894"/>
                  </a:ext>
                </a:extLst>
              </a:tr>
              <a:tr h="349361">
                <a:tc>
                  <a:txBody>
                    <a:bodyPr/>
                    <a:lstStyle/>
                    <a:p>
                      <a:r>
                        <a:rPr lang="en-IN" sz="1100" b="1" dirty="0">
                          <a:solidFill>
                            <a:srgbClr val="8B0000"/>
                          </a:solidFill>
                          <a:latin typeface="Segoe UI Symbol" panose="020B0502040204020203" pitchFamily="34" charset="0"/>
                        </a:rPr>
                        <a:t>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1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Main MCU </a:t>
                      </a:r>
                      <a:endParaRPr lang="en-IN" sz="850" b="1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ESP32-S3 DevKit V1 (WROOM-N16R8)</a:t>
                      </a:r>
                      <a:endParaRPr lang="en-IN" sz="8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850" b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IN" sz="8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 dirty="0">
                          <a:solidFill>
                            <a:srgbClr val="0A0A0A"/>
                          </a:solidFill>
                          <a:latin typeface="Times New Roman" panose="02020603050405020304" pitchFamily="18" charset="0"/>
                        </a:rPr>
                        <a:t>V2 Advanced Upgrade: Vector AI instruction, Dual Type-C, USB-OTG</a:t>
                      </a:r>
                      <a:endParaRPr lang="en-IN" sz="850" b="0" dirty="0">
                        <a:solidFill>
                          <a:srgbClr val="0A0A0A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042847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E3074C67-CCFD-2EEE-51CB-F71D99DFC0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1390322"/>
            <a:ext cx="257076" cy="2570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891C561-7D11-6BEE-3571-DA8B972001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998" y="1713571"/>
            <a:ext cx="252000" cy="252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BC9FED-3727-4C41-7636-C2B5375A78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2074296"/>
            <a:ext cx="252000" cy="252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D74C867-1A3A-31FF-B0F2-4105A1227D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2412348"/>
            <a:ext cx="252000" cy="252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1167B82-4E64-8AA5-2136-C203387BE2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2760301"/>
            <a:ext cx="252000" cy="252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DAF4F50-1804-917F-8E57-37C6CF5306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3114838"/>
            <a:ext cx="252000" cy="252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9DD7546-9127-FBE7-F6DE-41F2C6571CE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3475605"/>
            <a:ext cx="252000" cy="252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546D0DA-0A73-1A9F-AFA4-EF199E94D8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3820390"/>
            <a:ext cx="252000" cy="252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95C804B-E2AD-BE4E-2906-1F538A8B54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4152627"/>
            <a:ext cx="252000" cy="252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570AA44-FA70-5F57-DBC4-6D2E0776330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4531705"/>
            <a:ext cx="252000" cy="252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E4A083F-6A5F-BA17-E012-49B4B97E7A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4845216"/>
            <a:ext cx="252000" cy="252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1763CE3-7DD9-4CA1-07E7-EFC0E36978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5224518"/>
            <a:ext cx="252000" cy="252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961800B-542D-9ACA-474D-78D14CD23E8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5556755"/>
            <a:ext cx="252000" cy="252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2F620F9-35A2-074B-F469-8D15ED82AC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5888992"/>
            <a:ext cx="252000" cy="252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059B1E-C4A5-D5E7-74FC-BCB9D430A6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460" y="6227674"/>
            <a:ext cx="252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66142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3100</TotalTime>
  <Words>3694</Words>
  <Application>Microsoft Office PowerPoint</Application>
  <PresentationFormat>On-screen Show (4:3)</PresentationFormat>
  <Paragraphs>346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Segoe UI Symbol</vt:lpstr>
      <vt:lpstr>Times New Roman</vt:lpstr>
      <vt:lpstr>Custom Design</vt:lpstr>
      <vt:lpstr>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Methodology – Four Layer Pipeline Architecture</vt:lpstr>
      <vt:lpstr>Justification of Methodology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Raahul N</cp:lastModifiedBy>
  <cp:revision>153</cp:revision>
  <dcterms:created xsi:type="dcterms:W3CDTF">2019-11-06T07:48:53Z</dcterms:created>
  <dcterms:modified xsi:type="dcterms:W3CDTF">2026-08-11T11:20:06Z</dcterms:modified>
</cp:coreProperties>
</file>